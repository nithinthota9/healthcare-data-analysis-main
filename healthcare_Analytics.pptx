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-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hin Thota" userId="fe8898d2e9077b7c" providerId="LiveId" clId="{9A357B50-9A50-4BEF-B842-2A7B9D778F83}"/>
    <pc:docChg chg="custSel modSld">
      <pc:chgData name="Nithin Thota" userId="fe8898d2e9077b7c" providerId="LiveId" clId="{9A357B50-9A50-4BEF-B842-2A7B9D778F83}" dt="2026-02-16T15:55:51.974" v="4" actId="478"/>
      <pc:docMkLst>
        <pc:docMk/>
      </pc:docMkLst>
      <pc:sldChg chg="delSp modSp mod">
        <pc:chgData name="Nithin Thota" userId="fe8898d2e9077b7c" providerId="LiveId" clId="{9A357B50-9A50-4BEF-B842-2A7B9D778F83}" dt="2026-02-16T15:55:51.974" v="4" actId="478"/>
        <pc:sldMkLst>
          <pc:docMk/>
          <pc:sldMk cId="0" sldId="256"/>
        </pc:sldMkLst>
        <pc:spChg chg="del">
          <ac:chgData name="Nithin Thota" userId="fe8898d2e9077b7c" providerId="LiveId" clId="{9A357B50-9A50-4BEF-B842-2A7B9D778F83}" dt="2026-02-16T15:55:41.505" v="0" actId="478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Nithin Thota" userId="fe8898d2e9077b7c" providerId="LiveId" clId="{9A357B50-9A50-4BEF-B842-2A7B9D778F83}" dt="2026-02-16T15:55:48.316" v="3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Nithin Thota" userId="fe8898d2e9077b7c" providerId="LiveId" clId="{9A357B50-9A50-4BEF-B842-2A7B9D778F83}" dt="2026-02-16T15:55:51.974" v="4" actId="478"/>
          <ac:spMkLst>
            <pc:docMk/>
            <pc:sldMk cId="0" sldId="256"/>
            <ac:spMk id="1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0838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9" Type="http://schemas.openxmlformats.org/officeDocument/2006/relationships/image" Target="../media/image66.png"/><Relationship Id="rId21" Type="http://schemas.openxmlformats.org/officeDocument/2006/relationships/image" Target="../media/image48.png"/><Relationship Id="rId34" Type="http://schemas.openxmlformats.org/officeDocument/2006/relationships/image" Target="../media/image6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41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32" Type="http://schemas.openxmlformats.org/officeDocument/2006/relationships/image" Target="../media/image59.png"/><Relationship Id="rId37" Type="http://schemas.openxmlformats.org/officeDocument/2006/relationships/image" Target="../media/image64.png"/><Relationship Id="rId40" Type="http://schemas.openxmlformats.org/officeDocument/2006/relationships/image" Target="../media/image67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36" Type="http://schemas.openxmlformats.org/officeDocument/2006/relationships/image" Target="../media/image63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31" Type="http://schemas.openxmlformats.org/officeDocument/2006/relationships/image" Target="../media/image58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Relationship Id="rId35" Type="http://schemas.openxmlformats.org/officeDocument/2006/relationships/image" Target="../media/image62.png"/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33" Type="http://schemas.openxmlformats.org/officeDocument/2006/relationships/image" Target="../media/image60.png"/><Relationship Id="rId38" Type="http://schemas.openxmlformats.org/officeDocument/2006/relationships/image" Target="../media/image6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11" Type="http://schemas.openxmlformats.org/officeDocument/2006/relationships/image" Target="../media/image9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0" Type="http://schemas.openxmlformats.org/officeDocument/2006/relationships/image" Target="../media/image99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png"/><Relationship Id="rId18" Type="http://schemas.openxmlformats.org/officeDocument/2006/relationships/image" Target="../media/image9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17" Type="http://schemas.openxmlformats.org/officeDocument/2006/relationships/image" Target="../media/image119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5" Type="http://schemas.openxmlformats.org/officeDocument/2006/relationships/image" Target="../media/image107.png"/><Relationship Id="rId15" Type="http://schemas.openxmlformats.org/officeDocument/2006/relationships/image" Target="../media/image117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Relationship Id="rId14" Type="http://schemas.openxmlformats.org/officeDocument/2006/relationships/image" Target="../media/image1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3.png"/><Relationship Id="rId11" Type="http://schemas.openxmlformats.org/officeDocument/2006/relationships/image" Target="../media/image128.png"/><Relationship Id="rId5" Type="http://schemas.openxmlformats.org/officeDocument/2006/relationships/image" Target="../media/image122.png"/><Relationship Id="rId10" Type="http://schemas.openxmlformats.org/officeDocument/2006/relationships/image" Target="../media/image127.png"/><Relationship Id="rId4" Type="http://schemas.openxmlformats.org/officeDocument/2006/relationships/image" Target="../media/image121.png"/><Relationship Id="rId9" Type="http://schemas.openxmlformats.org/officeDocument/2006/relationships/image" Target="../media/image1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44.png"/><Relationship Id="rId18" Type="http://schemas.openxmlformats.org/officeDocument/2006/relationships/image" Target="../media/image149.pn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12" Type="http://schemas.openxmlformats.org/officeDocument/2006/relationships/image" Target="../media/image143.png"/><Relationship Id="rId17" Type="http://schemas.openxmlformats.org/officeDocument/2006/relationships/image" Target="../media/image148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47.png"/><Relationship Id="rId20" Type="http://schemas.openxmlformats.org/officeDocument/2006/relationships/image" Target="../media/image1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8.png"/><Relationship Id="rId11" Type="http://schemas.openxmlformats.org/officeDocument/2006/relationships/image" Target="../media/image142.png"/><Relationship Id="rId5" Type="http://schemas.openxmlformats.org/officeDocument/2006/relationships/image" Target="../media/image137.png"/><Relationship Id="rId15" Type="http://schemas.openxmlformats.org/officeDocument/2006/relationships/image" Target="../media/image146.png"/><Relationship Id="rId10" Type="http://schemas.openxmlformats.org/officeDocument/2006/relationships/image" Target="../media/image9.png"/><Relationship Id="rId19" Type="http://schemas.openxmlformats.org/officeDocument/2006/relationships/image" Target="../media/image150.png"/><Relationship Id="rId4" Type="http://schemas.openxmlformats.org/officeDocument/2006/relationships/image" Target="../media/image136.png"/><Relationship Id="rId9" Type="http://schemas.openxmlformats.org/officeDocument/2006/relationships/image" Target="../media/image141.png"/><Relationship Id="rId14" Type="http://schemas.openxmlformats.org/officeDocument/2006/relationships/image" Target="../media/image14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13" Type="http://schemas.openxmlformats.org/officeDocument/2006/relationships/image" Target="../media/image162.png"/><Relationship Id="rId18" Type="http://schemas.openxmlformats.org/officeDocument/2006/relationships/image" Target="../media/image167.png"/><Relationship Id="rId3" Type="http://schemas.openxmlformats.org/officeDocument/2006/relationships/image" Target="../media/image152.png"/><Relationship Id="rId21" Type="http://schemas.openxmlformats.org/officeDocument/2006/relationships/image" Target="../media/image170.png"/><Relationship Id="rId7" Type="http://schemas.openxmlformats.org/officeDocument/2006/relationships/image" Target="../media/image156.png"/><Relationship Id="rId12" Type="http://schemas.openxmlformats.org/officeDocument/2006/relationships/image" Target="../media/image161.png"/><Relationship Id="rId17" Type="http://schemas.openxmlformats.org/officeDocument/2006/relationships/image" Target="../media/image166.png"/><Relationship Id="rId25" Type="http://schemas.openxmlformats.org/officeDocument/2006/relationships/image" Target="../media/image174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65.png"/><Relationship Id="rId20" Type="http://schemas.openxmlformats.org/officeDocument/2006/relationships/image" Target="../media/image1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5.png"/><Relationship Id="rId11" Type="http://schemas.openxmlformats.org/officeDocument/2006/relationships/image" Target="../media/image160.png"/><Relationship Id="rId24" Type="http://schemas.openxmlformats.org/officeDocument/2006/relationships/image" Target="../media/image173.png"/><Relationship Id="rId5" Type="http://schemas.openxmlformats.org/officeDocument/2006/relationships/image" Target="../media/image154.png"/><Relationship Id="rId15" Type="http://schemas.openxmlformats.org/officeDocument/2006/relationships/image" Target="../media/image164.png"/><Relationship Id="rId23" Type="http://schemas.openxmlformats.org/officeDocument/2006/relationships/image" Target="../media/image172.png"/><Relationship Id="rId10" Type="http://schemas.openxmlformats.org/officeDocument/2006/relationships/image" Target="../media/image159.png"/><Relationship Id="rId19" Type="http://schemas.openxmlformats.org/officeDocument/2006/relationships/image" Target="../media/image168.png"/><Relationship Id="rId4" Type="http://schemas.openxmlformats.org/officeDocument/2006/relationships/image" Target="../media/image153.png"/><Relationship Id="rId9" Type="http://schemas.openxmlformats.org/officeDocument/2006/relationships/image" Target="../media/image158.png"/><Relationship Id="rId14" Type="http://schemas.openxmlformats.org/officeDocument/2006/relationships/image" Target="../media/image163.png"/><Relationship Id="rId22" Type="http://schemas.openxmlformats.org/officeDocument/2006/relationships/image" Target="../media/image17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image" Target="../media/image185.png"/><Relationship Id="rId3" Type="http://schemas.openxmlformats.org/officeDocument/2006/relationships/image" Target="../media/image175.png"/><Relationship Id="rId7" Type="http://schemas.openxmlformats.org/officeDocument/2006/relationships/image" Target="../media/image179.png"/><Relationship Id="rId12" Type="http://schemas.openxmlformats.org/officeDocument/2006/relationships/image" Target="../media/image18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8.png"/><Relationship Id="rId11" Type="http://schemas.openxmlformats.org/officeDocument/2006/relationships/image" Target="../media/image183.png"/><Relationship Id="rId5" Type="http://schemas.openxmlformats.org/officeDocument/2006/relationships/image" Target="../media/image177.png"/><Relationship Id="rId15" Type="http://schemas.openxmlformats.org/officeDocument/2006/relationships/image" Target="../media/image187.png"/><Relationship Id="rId10" Type="http://schemas.openxmlformats.org/officeDocument/2006/relationships/image" Target="../media/image182.png"/><Relationship Id="rId4" Type="http://schemas.openxmlformats.org/officeDocument/2006/relationships/image" Target="../media/image176.png"/><Relationship Id="rId9" Type="http://schemas.openxmlformats.org/officeDocument/2006/relationships/image" Target="../media/image181.png"/><Relationship Id="rId14" Type="http://schemas.openxmlformats.org/officeDocument/2006/relationships/image" Target="../media/image18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3" Type="http://schemas.openxmlformats.org/officeDocument/2006/relationships/image" Target="../media/image188.png"/><Relationship Id="rId7" Type="http://schemas.openxmlformats.org/officeDocument/2006/relationships/image" Target="../media/image19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1.png"/><Relationship Id="rId11" Type="http://schemas.openxmlformats.org/officeDocument/2006/relationships/image" Target="../media/image196.png"/><Relationship Id="rId5" Type="http://schemas.openxmlformats.org/officeDocument/2006/relationships/image" Target="../media/image190.png"/><Relationship Id="rId10" Type="http://schemas.openxmlformats.org/officeDocument/2006/relationships/image" Target="../media/image195.png"/><Relationship Id="rId4" Type="http://schemas.openxmlformats.org/officeDocument/2006/relationships/image" Target="../media/image189.png"/><Relationship Id="rId9" Type="http://schemas.openxmlformats.org/officeDocument/2006/relationships/image" Target="../media/image19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7" Type="http://schemas.openxmlformats.org/officeDocument/2006/relationships/image" Target="../media/image20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0.png"/><Relationship Id="rId5" Type="http://schemas.openxmlformats.org/officeDocument/2006/relationships/image" Target="../media/image199.png"/><Relationship Id="rId4" Type="http://schemas.openxmlformats.org/officeDocument/2006/relationships/image" Target="../media/image19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25000"/>
          </a:blip>
          <a:srcRect l="14458" r="14458"/>
          <a:stretch/>
        </p:blipFill>
        <p:spPr>
          <a:xfrm>
            <a:off x="4876495" y="0"/>
            <a:ext cx="7315200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76695" y="-1429207"/>
            <a:ext cx="6667805" cy="6667805"/>
          </a:xfrm>
          <a:prstGeom prst="ellipse">
            <a:avLst/>
          </a:prstGeom>
          <a:solidFill>
            <a:srgbClr val="1E88E5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-952805" y="3047695"/>
            <a:ext cx="4762195" cy="4762195"/>
          </a:xfrm>
          <a:prstGeom prst="ellipse">
            <a:avLst/>
          </a:prstGeom>
          <a:solidFill>
            <a:srgbClr val="00ACC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375" b="-375"/>
          <a:stretch/>
        </p:blipFill>
        <p:spPr>
          <a:xfrm>
            <a:off x="761695" y="947318"/>
            <a:ext cx="609905" cy="384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61695" y="4871923"/>
            <a:ext cx="10668305" cy="9144"/>
          </a:xfrm>
          <a:prstGeom prst="rect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761695" y="5186477"/>
            <a:ext cx="22091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761695" y="5376672"/>
            <a:ext cx="381305" cy="3813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760" r="-760"/>
          <a:stretch/>
        </p:blipFill>
        <p:spPr>
          <a:xfrm>
            <a:off x="875995" y="5481828"/>
            <a:ext cx="152705" cy="17190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57300" y="5415077"/>
            <a:ext cx="176113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Nithin Thota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406494" y="5415077"/>
            <a:ext cx="37719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Area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11650" y="5710428"/>
            <a:ext cx="171907" cy="17190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902098" y="5662879"/>
            <a:ext cx="375178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Intelligence &amp; Strategy</a:t>
            </a:r>
            <a:endParaRPr lang="en-US" sz="15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725558" y="5567782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581998" y="5833872"/>
            <a:ext cx="6007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BEA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</a:t>
            </a:r>
            <a:endParaRPr lang="en-US" sz="9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rcRect l="-57" r="-57"/>
          <a:stretch/>
        </p:blipFill>
        <p:spPr>
          <a:xfrm>
            <a:off x="10515600" y="5567782"/>
            <a:ext cx="200254" cy="2286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326319" y="5833872"/>
            <a:ext cx="6574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BEA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DAX / SQL</a:t>
            </a:r>
            <a:endParaRPr lang="en-US" sz="9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1167567" y="5567782"/>
            <a:ext cx="228600" cy="2286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132820" y="5833872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BEA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</a:t>
            </a:r>
            <a:endParaRPr lang="en-US" sz="900" dirty="0"/>
          </a:p>
        </p:txBody>
      </p:sp>
      <p:sp>
        <p:nvSpPr>
          <p:cNvPr id="25" name="Text 16"/>
          <p:cNvSpPr txBox="1"/>
          <p:nvPr/>
        </p:nvSpPr>
        <p:spPr>
          <a:xfrm>
            <a:off x="761695" y="1290218"/>
            <a:ext cx="8706002" cy="2143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0" b="1" kern="0" spc="-11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Healthcare Analytics:</a:t>
            </a:r>
            <a:endParaRPr lang="en-US" sz="4500" dirty="0"/>
          </a:p>
          <a:p>
            <a:pPr marL="0" indent="0" algn="l">
              <a:buNone/>
            </a:pPr>
            <a:r>
              <a:rPr lang="en-US" sz="4500" b="1" kern="0" spc="-112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Driving Revenue Growth</a:t>
            </a:r>
            <a:endParaRPr lang="en-US" sz="4500" dirty="0"/>
          </a:p>
          <a:p>
            <a:pPr marL="0" indent="0" algn="l">
              <a:buNone/>
            </a:pPr>
            <a:r>
              <a:rPr lang="en-US" sz="4500" b="1" kern="0" spc="-11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&amp; Operational Excellence </a:t>
            </a:r>
            <a:endParaRPr lang="en-US" sz="4500" dirty="0"/>
          </a:p>
        </p:txBody>
      </p:sp>
      <p:sp>
        <p:nvSpPr>
          <p:cNvPr id="26" name="Text 17"/>
          <p:cNvSpPr txBox="1"/>
          <p:nvPr/>
        </p:nvSpPr>
        <p:spPr>
          <a:xfrm>
            <a:off x="761695" y="4043477"/>
            <a:ext cx="683514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Data-Driven Solutions for Healthcare Optimization</a:t>
            </a:r>
            <a:endParaRPr lang="en-US" sz="18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334195" y="6172200"/>
            <a:ext cx="28575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809244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71500" y="0"/>
            <a:ext cx="49725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552298"/>
            <a:ext cx="54681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DD0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Overview of Operational Challenges &amp; Strategic Impact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rcRect l="-266" r="-266"/>
          <a:stretch/>
        </p:blipFill>
        <p:spPr>
          <a:xfrm>
            <a:off x="9285732" y="261518"/>
            <a:ext cx="323698" cy="2862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86239" y="261518"/>
            <a:ext cx="211043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HEALTHANALYTICS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490911" y="271577"/>
            <a:ext cx="12097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71500" y="1190549"/>
            <a:ext cx="11048695" cy="1914754"/>
          </a:xfrm>
          <a:prstGeom prst="roundRect">
            <a:avLst>
              <a:gd name="adj" fmla="val 1901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71500" y="1190549"/>
            <a:ext cx="57607" cy="1914754"/>
          </a:xfrm>
          <a:prstGeom prst="roundRect">
            <a:avLst>
              <a:gd name="adj" fmla="val 63176"/>
            </a:avLst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3602" y="1495044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14907" y="1419149"/>
            <a:ext cx="101160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8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Challenge Overview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314907" y="1762049"/>
            <a:ext cx="10077602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healthcare facility experienced rising patient volumes without proportional resource adjustments, resulting in operational bottlenecks. High non-registered traffic and inefficient scheduling led to revenue leakage and suboptimal patient experiences. The objective was to utilize data analytics to identify actionable opportunities for revenue growth and cost optimization.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71500" y="3390595"/>
            <a:ext cx="3534156" cy="185714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71500" y="3390595"/>
            <a:ext cx="3530498" cy="57607"/>
          </a:xfrm>
          <a:prstGeom prst="rect">
            <a:avLst/>
          </a:prstGeom>
          <a:solidFill>
            <a:srgbClr val="FFA7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00100" y="3581705"/>
            <a:ext cx="457200" cy="457200"/>
          </a:xfrm>
          <a:prstGeom prst="ellipse">
            <a:avLst/>
          </a:prstGeom>
          <a:solidFill>
            <a:srgbClr val="FFF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09828" y="3715207"/>
            <a:ext cx="237744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794406" y="358170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GROWTH TREND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800100" y="4190695"/>
            <a:ext cx="32671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+5.8%</a:t>
            </a:r>
            <a:endParaRPr lang="en-US" sz="3100" dirty="0"/>
          </a:p>
        </p:txBody>
      </p:sp>
      <p:sp>
        <p:nvSpPr>
          <p:cNvPr id="21" name="Text 16"/>
          <p:cNvSpPr txBox="1"/>
          <p:nvPr/>
        </p:nvSpPr>
        <p:spPr>
          <a:xfrm>
            <a:off x="800100" y="4629607"/>
            <a:ext cx="31912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YoY Visitor Growth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800100" y="4867351"/>
            <a:ext cx="3191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A4A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Increasing demand pressure (2019-2020)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330598" y="3390595"/>
            <a:ext cx="3534156" cy="185714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330598" y="3390595"/>
            <a:ext cx="3530498" cy="57607"/>
          </a:xfrm>
          <a:prstGeom prst="rect">
            <a:avLst/>
          </a:prstGeom>
          <a:solidFill>
            <a:srgbClr val="FFA7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559198" y="3581705"/>
            <a:ext cx="457200" cy="457200"/>
          </a:xfrm>
          <a:prstGeom prst="ellipse">
            <a:avLst/>
          </a:prstGeom>
          <a:solidFill>
            <a:srgbClr val="FFF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16475" y="3715207"/>
            <a:ext cx="142646" cy="1901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578194" y="3581705"/>
            <a:ext cx="1114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EFFICIENCY GAP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4559198" y="4190695"/>
            <a:ext cx="32671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 min</a:t>
            </a:r>
            <a:endParaRPr lang="en-US" sz="3100" dirty="0"/>
          </a:p>
        </p:txBody>
      </p:sp>
      <p:sp>
        <p:nvSpPr>
          <p:cNvPr id="29" name="Text 23"/>
          <p:cNvSpPr txBox="1"/>
          <p:nvPr/>
        </p:nvSpPr>
        <p:spPr>
          <a:xfrm>
            <a:off x="4559198" y="4629607"/>
            <a:ext cx="31912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Wait Time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4559198" y="4867351"/>
            <a:ext cx="3191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A4A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90% of patients wait 20-60 mins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8089697" y="3390595"/>
            <a:ext cx="3534156" cy="185714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8089697" y="3390595"/>
            <a:ext cx="3530498" cy="57607"/>
          </a:xfrm>
          <a:prstGeom prst="rect">
            <a:avLst/>
          </a:prstGeom>
          <a:solidFill>
            <a:srgbClr val="FFA7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8318297" y="3581705"/>
            <a:ext cx="457200" cy="457200"/>
          </a:xfrm>
          <a:prstGeom prst="ellipse">
            <a:avLst/>
          </a:prstGeom>
          <a:solidFill>
            <a:srgbClr val="FFF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1799" y="3715207"/>
            <a:ext cx="190195" cy="190195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0399471" y="3581705"/>
            <a:ext cx="1057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QUALITY ISSUE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8318297" y="4190695"/>
            <a:ext cx="32671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/ 10</a:t>
            </a:r>
            <a:endParaRPr lang="en-US" sz="3100" dirty="0"/>
          </a:p>
        </p:txBody>
      </p:sp>
      <p:sp>
        <p:nvSpPr>
          <p:cNvPr id="37" name="Text 30"/>
          <p:cNvSpPr txBox="1"/>
          <p:nvPr/>
        </p:nvSpPr>
        <p:spPr>
          <a:xfrm>
            <a:off x="8318297" y="4629607"/>
            <a:ext cx="31912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Satisfaction Score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318297" y="4867351"/>
            <a:ext cx="3191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A4A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Directly correlated to wait times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571500" y="5471770"/>
            <a:ext cx="3534156" cy="185714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571500" y="5471770"/>
            <a:ext cx="3530498" cy="57607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800100" y="5662879"/>
            <a:ext cx="457200" cy="4572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rcRect l="-1282" r="-1282"/>
          <a:stretch/>
        </p:blipFill>
        <p:spPr>
          <a:xfrm>
            <a:off x="918972" y="5796382"/>
            <a:ext cx="219456" cy="190195"/>
          </a:xfrm>
          <a:prstGeom prst="rect">
            <a:avLst/>
          </a:prstGeom>
        </p:spPr>
      </p:pic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34970" y="5662879"/>
            <a:ext cx="1143000" cy="22860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2734970" y="5662879"/>
            <a:ext cx="1143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IMPACT</a:t>
            </a:r>
            <a:endParaRPr lang="en-US" sz="900" dirty="0"/>
          </a:p>
        </p:txBody>
      </p:sp>
      <p:sp>
        <p:nvSpPr>
          <p:cNvPr id="45" name="Text 36"/>
          <p:cNvSpPr txBox="1"/>
          <p:nvPr/>
        </p:nvSpPr>
        <p:spPr>
          <a:xfrm>
            <a:off x="800100" y="6271870"/>
            <a:ext cx="32671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478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$994.7K</a:t>
            </a:r>
            <a:endParaRPr lang="en-US" sz="3100" dirty="0"/>
          </a:p>
        </p:txBody>
      </p:sp>
      <p:sp>
        <p:nvSpPr>
          <p:cNvPr id="46" name="Text 37"/>
          <p:cNvSpPr txBox="1"/>
          <p:nvPr/>
        </p:nvSpPr>
        <p:spPr>
          <a:xfrm>
            <a:off x="800100" y="6710782"/>
            <a:ext cx="31912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Increase</a:t>
            </a:r>
            <a:endParaRPr lang="en-US" sz="1000" dirty="0"/>
          </a:p>
        </p:txBody>
      </p:sp>
      <p:sp>
        <p:nvSpPr>
          <p:cNvPr id="47" name="Text 38"/>
          <p:cNvSpPr txBox="1"/>
          <p:nvPr/>
        </p:nvSpPr>
        <p:spPr>
          <a:xfrm>
            <a:off x="800100" y="6948526"/>
            <a:ext cx="32351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A4A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targeted patient conversion campaigns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4330598" y="5471770"/>
            <a:ext cx="3534156" cy="185714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0"/>
          <p:cNvSpPr/>
          <p:nvPr/>
        </p:nvSpPr>
        <p:spPr>
          <a:xfrm>
            <a:off x="4330598" y="5471770"/>
            <a:ext cx="3530498" cy="57607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1"/>
          <p:cNvSpPr/>
          <p:nvPr/>
        </p:nvSpPr>
        <p:spPr>
          <a:xfrm>
            <a:off x="4559198" y="5662879"/>
            <a:ext cx="457200" cy="4572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10"/>
          <a:srcRect l="-1282" r="-1282"/>
          <a:stretch/>
        </p:blipFill>
        <p:spPr>
          <a:xfrm>
            <a:off x="4678070" y="5796382"/>
            <a:ext cx="219456" cy="190195"/>
          </a:xfrm>
          <a:prstGeom prst="rect">
            <a:avLst/>
          </a:prstGeom>
        </p:spPr>
      </p:pic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5062" y="5662879"/>
            <a:ext cx="972007" cy="228600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6665062" y="5662879"/>
            <a:ext cx="9720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 SAVINGS</a:t>
            </a:r>
            <a:endParaRPr lang="en-US" sz="900" dirty="0"/>
          </a:p>
        </p:txBody>
      </p:sp>
      <p:sp>
        <p:nvSpPr>
          <p:cNvPr id="54" name="Text 43"/>
          <p:cNvSpPr txBox="1"/>
          <p:nvPr/>
        </p:nvSpPr>
        <p:spPr>
          <a:xfrm>
            <a:off x="4559198" y="6271870"/>
            <a:ext cx="32671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478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$412K</a:t>
            </a:r>
            <a:endParaRPr lang="en-US" sz="3100" dirty="0"/>
          </a:p>
        </p:txBody>
      </p:sp>
      <p:sp>
        <p:nvSpPr>
          <p:cNvPr id="55" name="Text 44"/>
          <p:cNvSpPr txBox="1"/>
          <p:nvPr/>
        </p:nvSpPr>
        <p:spPr>
          <a:xfrm>
            <a:off x="4559198" y="6710782"/>
            <a:ext cx="31912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Annual Cost Reduction</a:t>
            </a:r>
            <a:endParaRPr lang="en-US" sz="1000" dirty="0"/>
          </a:p>
        </p:txBody>
      </p:sp>
      <p:sp>
        <p:nvSpPr>
          <p:cNvPr id="56" name="Text 45"/>
          <p:cNvSpPr txBox="1"/>
          <p:nvPr/>
        </p:nvSpPr>
        <p:spPr>
          <a:xfrm>
            <a:off x="4559198" y="6948526"/>
            <a:ext cx="3191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A4A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Via data-driven staff optimization</a:t>
            </a:r>
            <a:endParaRPr lang="en-US" sz="900" dirty="0"/>
          </a:p>
        </p:txBody>
      </p:sp>
      <p:sp>
        <p:nvSpPr>
          <p:cNvPr id="57" name="Shape 46"/>
          <p:cNvSpPr/>
          <p:nvPr/>
        </p:nvSpPr>
        <p:spPr>
          <a:xfrm>
            <a:off x="8089697" y="5471770"/>
            <a:ext cx="3534156" cy="185714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47"/>
          <p:cNvSpPr/>
          <p:nvPr/>
        </p:nvSpPr>
        <p:spPr>
          <a:xfrm>
            <a:off x="8089697" y="5471770"/>
            <a:ext cx="3530498" cy="57607"/>
          </a:xfrm>
          <a:prstGeom prst="rect">
            <a:avLst/>
          </a:prstGeom>
          <a:solidFill>
            <a:srgbClr val="00AC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48"/>
          <p:cNvSpPr/>
          <p:nvPr/>
        </p:nvSpPr>
        <p:spPr>
          <a:xfrm>
            <a:off x="8318297" y="5662879"/>
            <a:ext cx="457200" cy="45720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0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451799" y="5796382"/>
            <a:ext cx="190195" cy="190195"/>
          </a:xfrm>
          <a:prstGeom prst="rect">
            <a:avLst/>
          </a:prstGeom>
        </p:spPr>
      </p:pic>
      <p:sp>
        <p:nvSpPr>
          <p:cNvPr id="61" name="Text 49"/>
          <p:cNvSpPr txBox="1"/>
          <p:nvPr/>
        </p:nvSpPr>
        <p:spPr>
          <a:xfrm>
            <a:off x="10297973" y="5662879"/>
            <a:ext cx="1153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RETURN ON INV.</a:t>
            </a:r>
            <a:endParaRPr lang="en-US" sz="900" dirty="0"/>
          </a:p>
        </p:txBody>
      </p:sp>
      <p:sp>
        <p:nvSpPr>
          <p:cNvPr id="62" name="Text 50"/>
          <p:cNvSpPr txBox="1"/>
          <p:nvPr/>
        </p:nvSpPr>
        <p:spPr>
          <a:xfrm>
            <a:off x="8318297" y="6271870"/>
            <a:ext cx="32671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2,800%</a:t>
            </a:r>
            <a:endParaRPr lang="en-US" sz="3100" dirty="0"/>
          </a:p>
        </p:txBody>
      </p:sp>
      <p:sp>
        <p:nvSpPr>
          <p:cNvPr id="63" name="Text 51"/>
          <p:cNvSpPr txBox="1"/>
          <p:nvPr/>
        </p:nvSpPr>
        <p:spPr>
          <a:xfrm>
            <a:off x="8318297" y="6710782"/>
            <a:ext cx="31912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ROI</a:t>
            </a:r>
            <a:endParaRPr lang="en-US" sz="1000" dirty="0"/>
          </a:p>
        </p:txBody>
      </p:sp>
      <p:sp>
        <p:nvSpPr>
          <p:cNvPr id="64" name="Text 52"/>
          <p:cNvSpPr txBox="1"/>
          <p:nvPr/>
        </p:nvSpPr>
        <p:spPr>
          <a:xfrm>
            <a:off x="8318297" y="6948526"/>
            <a:ext cx="353232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A4A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Ratio of financial gain to implementation cost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09244"/>
            <a:ext cx="12191695" cy="7086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1500" y="1190549"/>
            <a:ext cx="5381244" cy="3019349"/>
          </a:xfrm>
          <a:prstGeom prst="roundRect">
            <a:avLst>
              <a:gd name="adj" fmla="val 114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1500" y="1190549"/>
            <a:ext cx="5381244" cy="57607"/>
          </a:xfrm>
          <a:prstGeom prst="roundRect">
            <a:avLst>
              <a:gd name="adj" fmla="val 60087"/>
            </a:avLst>
          </a:prstGeom>
          <a:solidFill>
            <a:srgbClr val="E53935"/>
          </a:solidFill>
          <a:ln w="12700">
            <a:solidFill>
              <a:srgbClr val="E539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alphaModFix amt="3000"/>
          </a:blip>
          <a:srcRect/>
          <a:stretch/>
        </p:blipFill>
        <p:spPr>
          <a:xfrm>
            <a:off x="4334256" y="2590495"/>
            <a:ext cx="2095805" cy="20958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7707" y="1533449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FFEB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5556" r="-5556"/>
          <a:stretch/>
        </p:blipFill>
        <p:spPr>
          <a:xfrm>
            <a:off x="976579" y="1686154"/>
            <a:ext cx="333756" cy="267005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6163" y="1676095"/>
            <a:ext cx="1162202" cy="28620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06163" y="1676095"/>
            <a:ext cx="116220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628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Retention Risk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857707" y="2295144"/>
            <a:ext cx="49249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8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 Patient Satisfaction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57707" y="2695651"/>
            <a:ext cx="500085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5.0 </a:t>
            </a:r>
            <a:r>
              <a:rPr lang="en-US" sz="18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 10</a:t>
            </a:r>
            <a:endParaRPr lang="en-US" sz="3600" dirty="0"/>
          </a:p>
        </p:txBody>
      </p:sp>
      <p:sp>
        <p:nvSpPr>
          <p:cNvPr id="14" name="Text 9"/>
          <p:cNvSpPr txBox="1"/>
          <p:nvPr/>
        </p:nvSpPr>
        <p:spPr>
          <a:xfrm>
            <a:off x="857707" y="3238805"/>
            <a:ext cx="48865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satisfaction scores are suboptimal. Analysis reveals a direct correlation with wait times, posing a significant risk to patient retention and hospital reputation.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238951" y="1190549"/>
            <a:ext cx="5381244" cy="3019349"/>
          </a:xfrm>
          <a:prstGeom prst="roundRect">
            <a:avLst>
              <a:gd name="adj" fmla="val 114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6238951" y="1190549"/>
            <a:ext cx="5381244" cy="57607"/>
          </a:xfrm>
          <a:prstGeom prst="roundRect">
            <a:avLst>
              <a:gd name="adj" fmla="val 60087"/>
            </a:avLst>
          </a:prstGeom>
          <a:solidFill>
            <a:srgbClr val="FB8C00"/>
          </a:solidFill>
          <a:ln w="12700">
            <a:solidFill>
              <a:srgbClr val="FB8C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>
            <a:alphaModFix amt="3000"/>
          </a:blip>
          <a:srcRect l="-6469" r="-6469"/>
          <a:stretch/>
        </p:blipFill>
        <p:spPr>
          <a:xfrm>
            <a:off x="10410444" y="2695651"/>
            <a:ext cx="1686154" cy="1990649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524244" y="1533449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FFF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l="-881" r="-881"/>
          <a:stretch/>
        </p:blipFill>
        <p:spPr>
          <a:xfrm>
            <a:off x="6691579" y="1686154"/>
            <a:ext cx="237744" cy="267005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5093" y="1676095"/>
            <a:ext cx="1228954" cy="286207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115093" y="1676095"/>
            <a:ext cx="1228954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F1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Resource Drain</a:t>
            </a:r>
            <a:endParaRPr lang="en-US" sz="900" dirty="0"/>
          </a:p>
        </p:txBody>
      </p:sp>
      <p:sp>
        <p:nvSpPr>
          <p:cNvPr id="22" name="Text 14"/>
          <p:cNvSpPr txBox="1"/>
          <p:nvPr/>
        </p:nvSpPr>
        <p:spPr>
          <a:xfrm>
            <a:off x="6524244" y="2295144"/>
            <a:ext cx="49249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8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Operational Costs</a:t>
            </a:r>
            <a:endParaRPr lang="en-US" sz="1500" dirty="0"/>
          </a:p>
        </p:txBody>
      </p:sp>
      <p:sp>
        <p:nvSpPr>
          <p:cNvPr id="23" name="Text 15"/>
          <p:cNvSpPr txBox="1"/>
          <p:nvPr/>
        </p:nvSpPr>
        <p:spPr>
          <a:xfrm>
            <a:off x="6524244" y="2695651"/>
            <a:ext cx="50008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58.7%</a:t>
            </a:r>
            <a:endParaRPr lang="en-US" sz="3600" dirty="0"/>
          </a:p>
        </p:txBody>
      </p:sp>
      <p:sp>
        <p:nvSpPr>
          <p:cNvPr id="24" name="Text 16"/>
          <p:cNvSpPr txBox="1"/>
          <p:nvPr/>
        </p:nvSpPr>
        <p:spPr>
          <a:xfrm>
            <a:off x="6524244" y="3228746"/>
            <a:ext cx="488655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Non-referred patients</a:t>
            </a:r>
            <a:r>
              <a:rPr lang="en-US" sz="12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dominate inflow, causing triage bottlenecks. Inefficient resource allocation during low-volume periods drives up unnecessary labor costs. 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571500" y="4496105"/>
            <a:ext cx="5381244" cy="3019349"/>
          </a:xfrm>
          <a:prstGeom prst="roundRect">
            <a:avLst>
              <a:gd name="adj" fmla="val 114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8"/>
          <p:cNvSpPr/>
          <p:nvPr/>
        </p:nvSpPr>
        <p:spPr>
          <a:xfrm>
            <a:off x="571500" y="4496105"/>
            <a:ext cx="5381244" cy="57607"/>
          </a:xfrm>
          <a:prstGeom prst="roundRect">
            <a:avLst>
              <a:gd name="adj" fmla="val 60087"/>
            </a:avLst>
          </a:prstGeom>
          <a:solidFill>
            <a:srgbClr val="43A047"/>
          </a:solidFill>
          <a:ln w="12700">
            <a:solidFill>
              <a:srgbClr val="43A0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857707" y="4839005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rcRect l="-685" r="-685"/>
          <a:stretch/>
        </p:blipFill>
        <p:spPr>
          <a:xfrm>
            <a:off x="990295" y="4990795"/>
            <a:ext cx="304495" cy="267005"/>
          </a:xfrm>
          <a:prstGeom prst="rect">
            <a:avLst/>
          </a:prstGeom>
        </p:spPr>
      </p:pic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7758" y="4981651"/>
            <a:ext cx="1200607" cy="286207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467758" y="4981651"/>
            <a:ext cx="12006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69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Missed Revenue</a:t>
            </a:r>
            <a:endParaRPr lang="en-US" sz="900" dirty="0"/>
          </a:p>
        </p:txBody>
      </p:sp>
      <p:sp>
        <p:nvSpPr>
          <p:cNvPr id="31" name="Text 21"/>
          <p:cNvSpPr txBox="1"/>
          <p:nvPr/>
        </p:nvSpPr>
        <p:spPr>
          <a:xfrm>
            <a:off x="857707" y="5600700"/>
            <a:ext cx="49249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8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Leakage</a:t>
            </a:r>
            <a:endParaRPr lang="en-US" sz="1500" dirty="0"/>
          </a:p>
        </p:txBody>
      </p:sp>
      <p:sp>
        <p:nvSpPr>
          <p:cNvPr id="32" name="Text 22"/>
          <p:cNvSpPr txBox="1"/>
          <p:nvPr/>
        </p:nvSpPr>
        <p:spPr>
          <a:xfrm>
            <a:off x="857707" y="6001207"/>
            <a:ext cx="50008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49.9%</a:t>
            </a:r>
            <a:endParaRPr lang="en-US" sz="3600" dirty="0"/>
          </a:p>
        </p:txBody>
      </p:sp>
      <p:sp>
        <p:nvSpPr>
          <p:cNvPr id="33" name="Text 23"/>
          <p:cNvSpPr txBox="1"/>
          <p:nvPr/>
        </p:nvSpPr>
        <p:spPr>
          <a:xfrm>
            <a:off x="857707" y="6534302"/>
            <a:ext cx="488655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Nearly half of all traffic consists of </a:t>
            </a:r>
            <a:r>
              <a:rPr lang="en-US" sz="1200" b="1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non-registered visitors</a:t>
            </a:r>
            <a:r>
              <a:rPr lang="en-US" sz="12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Lack of conversion strategies for this segment results in significant recurring revenue loss annually. </a:t>
            </a:r>
            <a:endParaRPr lang="en-US" sz="1200" dirty="0"/>
          </a:p>
        </p:txBody>
      </p:sp>
      <p:sp>
        <p:nvSpPr>
          <p:cNvPr id="34" name="Shape 24"/>
          <p:cNvSpPr/>
          <p:nvPr/>
        </p:nvSpPr>
        <p:spPr>
          <a:xfrm>
            <a:off x="6238951" y="4496105"/>
            <a:ext cx="5381244" cy="3019349"/>
          </a:xfrm>
          <a:prstGeom prst="roundRect">
            <a:avLst>
              <a:gd name="adj" fmla="val 114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5"/>
          <p:cNvSpPr/>
          <p:nvPr/>
        </p:nvSpPr>
        <p:spPr>
          <a:xfrm>
            <a:off x="6238951" y="4496105"/>
            <a:ext cx="5381244" cy="57607"/>
          </a:xfrm>
          <a:prstGeom prst="roundRect">
            <a:avLst>
              <a:gd name="adj" fmla="val 60087"/>
            </a:avLst>
          </a:prstGeom>
          <a:solidFill>
            <a:srgbClr val="D81B60"/>
          </a:solidFill>
          <a:ln w="12700">
            <a:solidFill>
              <a:srgbClr val="D81B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>
            <a:alphaModFix amt="3000"/>
          </a:blip>
          <a:srcRect l="-6469" r="-6469"/>
          <a:stretch/>
        </p:blipFill>
        <p:spPr>
          <a:xfrm>
            <a:off x="10410444" y="6001207"/>
            <a:ext cx="1686154" cy="1990649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6524244" y="4839005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FCE4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676949" y="4990795"/>
            <a:ext cx="267005" cy="267005"/>
          </a:xfrm>
          <a:prstGeom prst="rect">
            <a:avLst/>
          </a:prstGeom>
        </p:spPr>
      </p:pic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03790" y="4981651"/>
            <a:ext cx="1133856" cy="286207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10203790" y="4981651"/>
            <a:ext cx="1133856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628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Efficiency Gap</a:t>
            </a:r>
            <a:endParaRPr lang="en-US" sz="900" dirty="0"/>
          </a:p>
        </p:txBody>
      </p:sp>
      <p:sp>
        <p:nvSpPr>
          <p:cNvPr id="41" name="Text 28"/>
          <p:cNvSpPr txBox="1"/>
          <p:nvPr/>
        </p:nvSpPr>
        <p:spPr>
          <a:xfrm>
            <a:off x="6524244" y="5600700"/>
            <a:ext cx="49249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8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 Wait Times</a:t>
            </a:r>
            <a:endParaRPr lang="en-US" sz="1500" dirty="0"/>
          </a:p>
        </p:txBody>
      </p:sp>
      <p:sp>
        <p:nvSpPr>
          <p:cNvPr id="42" name="Text 29"/>
          <p:cNvSpPr txBox="1"/>
          <p:nvPr/>
        </p:nvSpPr>
        <p:spPr>
          <a:xfrm>
            <a:off x="6524244" y="6001207"/>
            <a:ext cx="50008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90.9%</a:t>
            </a:r>
            <a:endParaRPr lang="en-US" sz="3600" dirty="0"/>
          </a:p>
        </p:txBody>
      </p:sp>
      <p:sp>
        <p:nvSpPr>
          <p:cNvPr id="43" name="Text 30"/>
          <p:cNvSpPr txBox="1"/>
          <p:nvPr/>
        </p:nvSpPr>
        <p:spPr>
          <a:xfrm>
            <a:off x="6524244" y="6534302"/>
            <a:ext cx="488655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vast majority of patients wait between </a:t>
            </a:r>
            <a:r>
              <a:rPr lang="en-US" sz="1200" b="1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20-60 minutes</a:t>
            </a:r>
            <a:r>
              <a:rPr lang="en-US" sz="12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Throughput analysis indicates peak bottlenecks on Mondays and Wednesdays requiring immediate intervention. </a:t>
            </a:r>
            <a:endParaRPr lang="en-US" sz="1200" dirty="0"/>
          </a:p>
        </p:txBody>
      </p:sp>
      <p:sp>
        <p:nvSpPr>
          <p:cNvPr id="44" name="Shape 31"/>
          <p:cNvSpPr/>
          <p:nvPr/>
        </p:nvSpPr>
        <p:spPr>
          <a:xfrm>
            <a:off x="0" y="0"/>
            <a:ext cx="12191695" cy="809244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32"/>
          <p:cNvSpPr txBox="1"/>
          <p:nvPr/>
        </p:nvSpPr>
        <p:spPr>
          <a:xfrm>
            <a:off x="571500" y="0"/>
            <a:ext cx="559978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Problem Statement</a:t>
            </a:r>
            <a:endParaRPr lang="en-US" sz="2700" dirty="0"/>
          </a:p>
        </p:txBody>
      </p:sp>
      <p:sp>
        <p:nvSpPr>
          <p:cNvPr id="46" name="Text 33"/>
          <p:cNvSpPr txBox="1"/>
          <p:nvPr/>
        </p:nvSpPr>
        <p:spPr>
          <a:xfrm>
            <a:off x="571500" y="552298"/>
            <a:ext cx="59920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DD0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Identifying Key Bottlenecks &amp; Opportunities for Optimization</a:t>
            </a:r>
            <a:endParaRPr lang="en-US" sz="1300" dirty="0"/>
          </a:p>
        </p:txBody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14">
            <a:alphaModFix amt="80000"/>
          </a:blip>
          <a:srcRect l="-266" r="-266"/>
          <a:stretch/>
        </p:blipFill>
        <p:spPr>
          <a:xfrm>
            <a:off x="9285732" y="261518"/>
            <a:ext cx="323698" cy="286207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9686239" y="261518"/>
            <a:ext cx="211043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HEALTHANALYTICS</a:t>
            </a:r>
            <a:endParaRPr lang="en-US" sz="1500" dirty="0"/>
          </a:p>
        </p:txBody>
      </p:sp>
      <p:sp>
        <p:nvSpPr>
          <p:cNvPr id="49" name="Text 35"/>
          <p:cNvSpPr txBox="1"/>
          <p:nvPr/>
        </p:nvSpPr>
        <p:spPr>
          <a:xfrm>
            <a:off x="10490911" y="271577"/>
            <a:ext cx="12097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ANALYTICS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3696005"/>
            <a:ext cx="12191695" cy="384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524098" y="6286500"/>
            <a:ext cx="114300" cy="1143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3714293" y="6248095"/>
            <a:ext cx="14090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Refresh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16906" y="6248095"/>
            <a:ext cx="13834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Row-Level Security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880860" y="6286500"/>
            <a:ext cx="114300" cy="1143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071055" y="6248095"/>
            <a:ext cx="190469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Cross-Report Drillthrough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6402" y="1371600"/>
            <a:ext cx="2095805" cy="4572000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6402" y="5905195"/>
            <a:ext cx="2095805" cy="38405"/>
          </a:xfrm>
          <a:prstGeom prst="roundRect">
            <a:avLst>
              <a:gd name="adj" fmla="val 129869"/>
            </a:avLst>
          </a:prstGeom>
          <a:solidFill>
            <a:srgbClr val="78909C"/>
          </a:solidFill>
          <a:ln w="12700">
            <a:solidFill>
              <a:srgbClr val="7890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43000" y="1600200"/>
            <a:ext cx="761695" cy="761695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71600" y="1828800"/>
            <a:ext cx="304495" cy="3044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81812" y="2553005"/>
            <a:ext cx="14859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29107" y="3229661"/>
            <a:ext cx="17903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 txBox="1"/>
          <p:nvPr/>
        </p:nvSpPr>
        <p:spPr>
          <a:xfrm>
            <a:off x="1145743" y="2924251"/>
            <a:ext cx="1345997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Excel / CSV Files</a:t>
            </a:r>
            <a:endParaRPr lang="en-US" sz="9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92124" y="3026664"/>
            <a:ext cx="95098" cy="9509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9107" y="3538728"/>
            <a:ext cx="17903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 txBox="1"/>
          <p:nvPr/>
        </p:nvSpPr>
        <p:spPr>
          <a:xfrm>
            <a:off x="1141171" y="3233318"/>
            <a:ext cx="1350569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2019-2020 Data</a:t>
            </a:r>
            <a:endParaRPr lang="en-US" sz="9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997610" y="3335731"/>
            <a:ext cx="85954" cy="95098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29107" y="3848710"/>
            <a:ext cx="17903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 txBox="1"/>
          <p:nvPr/>
        </p:nvSpPr>
        <p:spPr>
          <a:xfrm>
            <a:off x="1106424" y="3543300"/>
            <a:ext cx="138531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Raw Patient Logs</a:t>
            </a:r>
            <a:endParaRPr lang="en-US" sz="9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962863" y="3645713"/>
            <a:ext cx="85954" cy="9509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196950" y="3853282"/>
            <a:ext cx="129479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Demographics</a:t>
            </a:r>
            <a:endParaRPr lang="en-US" sz="9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l="-1923" r="-1923"/>
          <a:stretch/>
        </p:blipFill>
        <p:spPr>
          <a:xfrm>
            <a:off x="1014984" y="3955694"/>
            <a:ext cx="123444" cy="95098"/>
          </a:xfrm>
          <a:prstGeom prst="rect">
            <a:avLst/>
          </a:prstGeom>
        </p:spPr>
      </p:pic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708" y="5443423"/>
            <a:ext cx="866851" cy="237744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092708" y="5443423"/>
            <a:ext cx="866851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8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Raw Inputs</a:t>
            </a:r>
            <a:endParaRPr lang="en-US" sz="8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80744" y="1228954"/>
            <a:ext cx="286207" cy="286207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1380744" y="1228954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2"/>
          <a:srcRect t="-80" b="-80"/>
          <a:stretch/>
        </p:blipFill>
        <p:spPr>
          <a:xfrm>
            <a:off x="2600554" y="3524098"/>
            <a:ext cx="142646" cy="228600"/>
          </a:xfrm>
          <a:prstGeom prst="rect">
            <a:avLst/>
          </a:prstGeom>
        </p:spPr>
      </p:pic>
      <p:sp>
        <p:nvSpPr>
          <p:cNvPr id="32" name="Shape 20"/>
          <p:cNvSpPr/>
          <p:nvPr/>
        </p:nvSpPr>
        <p:spPr>
          <a:xfrm>
            <a:off x="2762402" y="1371600"/>
            <a:ext cx="2095805" cy="4572000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1"/>
          <p:cNvSpPr/>
          <p:nvPr/>
        </p:nvSpPr>
        <p:spPr>
          <a:xfrm>
            <a:off x="2762402" y="5905195"/>
            <a:ext cx="2095805" cy="38405"/>
          </a:xfrm>
          <a:prstGeom prst="roundRect">
            <a:avLst>
              <a:gd name="adj" fmla="val 129869"/>
            </a:avLst>
          </a:prstGeom>
          <a:solidFill>
            <a:srgbClr val="FFA726"/>
          </a:solidFill>
          <a:ln w="12700">
            <a:solidFill>
              <a:srgbClr val="FFA7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3429000" y="1600200"/>
            <a:ext cx="761695" cy="761695"/>
          </a:xfrm>
          <a:prstGeom prst="rect">
            <a:avLst/>
          </a:prstGeom>
        </p:spPr>
      </p:pic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3657600" y="1828800"/>
            <a:ext cx="304495" cy="304495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2950769" y="2553005"/>
            <a:ext cx="17245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ETL / Transform</a:t>
            </a:r>
            <a:endParaRPr lang="en-US" sz="1300" dirty="0"/>
          </a:p>
        </p:txBody>
      </p:sp>
      <p:sp>
        <p:nvSpPr>
          <p:cNvPr id="37" name="Shape 23"/>
          <p:cNvSpPr/>
          <p:nvPr/>
        </p:nvSpPr>
        <p:spPr>
          <a:xfrm>
            <a:off x="2915107" y="3229661"/>
            <a:ext cx="17903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4"/>
          <p:cNvSpPr txBox="1"/>
          <p:nvPr/>
        </p:nvSpPr>
        <p:spPr>
          <a:xfrm>
            <a:off x="3490265" y="2924251"/>
            <a:ext cx="1287475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Data Cleaning</a:t>
            </a:r>
            <a:endParaRPr lang="en-US" sz="900" dirty="0"/>
          </a:p>
        </p:txBody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15"/>
          <a:srcRect t="-870" b="-870"/>
          <a:stretch/>
        </p:blipFill>
        <p:spPr>
          <a:xfrm>
            <a:off x="3328416" y="3026664"/>
            <a:ext cx="105156" cy="95098"/>
          </a:xfrm>
          <a:prstGeom prst="rect">
            <a:avLst/>
          </a:prstGeom>
        </p:spPr>
      </p:pic>
      <p:sp>
        <p:nvSpPr>
          <p:cNvPr id="40" name="Shape 25"/>
          <p:cNvSpPr/>
          <p:nvPr/>
        </p:nvSpPr>
        <p:spPr>
          <a:xfrm>
            <a:off x="2915107" y="3538728"/>
            <a:ext cx="17903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26"/>
          <p:cNvSpPr txBox="1"/>
          <p:nvPr/>
        </p:nvSpPr>
        <p:spPr>
          <a:xfrm>
            <a:off x="3478378" y="3233318"/>
            <a:ext cx="129936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Normalization</a:t>
            </a:r>
            <a:endParaRPr lang="en-US" sz="9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3325673" y="3335731"/>
            <a:ext cx="95098" cy="95098"/>
          </a:xfrm>
          <a:prstGeom prst="rect">
            <a:avLst/>
          </a:prstGeom>
        </p:spPr>
      </p:pic>
      <p:sp>
        <p:nvSpPr>
          <p:cNvPr id="43" name="Shape 27"/>
          <p:cNvSpPr/>
          <p:nvPr/>
        </p:nvSpPr>
        <p:spPr>
          <a:xfrm>
            <a:off x="2915107" y="3848710"/>
            <a:ext cx="17903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28"/>
          <p:cNvSpPr txBox="1"/>
          <p:nvPr/>
        </p:nvSpPr>
        <p:spPr>
          <a:xfrm>
            <a:off x="3245206" y="3543300"/>
            <a:ext cx="153253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Impute Missing Values</a:t>
            </a:r>
            <a:endParaRPr lang="en-US" sz="900" dirty="0"/>
          </a:p>
        </p:txBody>
      </p:sp>
      <p:pic>
        <p:nvPicPr>
          <p:cNvPr id="45" name="Image 14" descr="preencoded.png"/>
          <p:cNvPicPr>
            <a:picLocks noChangeAspect="1"/>
          </p:cNvPicPr>
          <p:nvPr/>
        </p:nvPicPr>
        <p:blipFill>
          <a:blip r:embed="rId17"/>
          <a:srcRect t="-870" b="-870"/>
          <a:stretch/>
        </p:blipFill>
        <p:spPr>
          <a:xfrm>
            <a:off x="3082442" y="3645713"/>
            <a:ext cx="105156" cy="95098"/>
          </a:xfrm>
          <a:prstGeom prst="rect">
            <a:avLst/>
          </a:prstGeom>
        </p:spPr>
      </p:pic>
      <p:sp>
        <p:nvSpPr>
          <p:cNvPr id="46" name="Text 29"/>
          <p:cNvSpPr txBox="1"/>
          <p:nvPr/>
        </p:nvSpPr>
        <p:spPr>
          <a:xfrm>
            <a:off x="3520440" y="3853282"/>
            <a:ext cx="12573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Column Split</a:t>
            </a:r>
            <a:endParaRPr lang="en-US" sz="900" dirty="0"/>
          </a:p>
        </p:txBody>
      </p:sp>
      <p:pic>
        <p:nvPicPr>
          <p:cNvPr id="47" name="Image 1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3367735" y="3955694"/>
            <a:ext cx="95098" cy="95098"/>
          </a:xfrm>
          <a:prstGeom prst="rect">
            <a:avLst/>
          </a:prstGeom>
        </p:spPr>
      </p:pic>
      <p:pic>
        <p:nvPicPr>
          <p:cNvPr id="4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30245" y="5443423"/>
            <a:ext cx="961949" cy="237744"/>
          </a:xfrm>
          <a:prstGeom prst="rect">
            <a:avLst/>
          </a:prstGeom>
        </p:spPr>
      </p:pic>
      <p:sp>
        <p:nvSpPr>
          <p:cNvPr id="49" name="Text 30"/>
          <p:cNvSpPr/>
          <p:nvPr/>
        </p:nvSpPr>
        <p:spPr>
          <a:xfrm>
            <a:off x="3330245" y="5443423"/>
            <a:ext cx="962863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8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Query</a:t>
            </a:r>
            <a:endParaRPr lang="en-US" sz="800" dirty="0"/>
          </a:p>
        </p:txBody>
      </p:sp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66744" y="1228954"/>
            <a:ext cx="286207" cy="286207"/>
          </a:xfrm>
          <a:prstGeom prst="rect">
            <a:avLst/>
          </a:prstGeom>
        </p:spPr>
      </p:pic>
      <p:sp>
        <p:nvSpPr>
          <p:cNvPr id="51" name="Text 31"/>
          <p:cNvSpPr/>
          <p:nvPr/>
        </p:nvSpPr>
        <p:spPr>
          <a:xfrm>
            <a:off x="3666744" y="1228954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pic>
        <p:nvPicPr>
          <p:cNvPr id="52" name="Image 18" descr="preencoded.png"/>
          <p:cNvPicPr>
            <a:picLocks noChangeAspect="1"/>
          </p:cNvPicPr>
          <p:nvPr/>
        </p:nvPicPr>
        <p:blipFill>
          <a:blip r:embed="rId12"/>
          <a:srcRect t="-80" b="-80"/>
          <a:stretch/>
        </p:blipFill>
        <p:spPr>
          <a:xfrm>
            <a:off x="4886554" y="3524098"/>
            <a:ext cx="142646" cy="228600"/>
          </a:xfrm>
          <a:prstGeom prst="rect">
            <a:avLst/>
          </a:prstGeom>
        </p:spPr>
      </p:pic>
      <p:sp>
        <p:nvSpPr>
          <p:cNvPr id="53" name="Shape 32"/>
          <p:cNvSpPr/>
          <p:nvPr/>
        </p:nvSpPr>
        <p:spPr>
          <a:xfrm>
            <a:off x="5048402" y="1371600"/>
            <a:ext cx="2095805" cy="4572000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33"/>
          <p:cNvSpPr/>
          <p:nvPr/>
        </p:nvSpPr>
        <p:spPr>
          <a:xfrm>
            <a:off x="5048402" y="5905195"/>
            <a:ext cx="2095805" cy="38405"/>
          </a:xfrm>
          <a:prstGeom prst="roundRect">
            <a:avLst>
              <a:gd name="adj" fmla="val 129869"/>
            </a:avLst>
          </a:prstGeom>
          <a:solidFill>
            <a:srgbClr val="29B6F6"/>
          </a:solidFill>
          <a:ln w="12700">
            <a:solidFill>
              <a:srgbClr val="29B6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5" name="Image 19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5715000" y="1600200"/>
            <a:ext cx="761695" cy="761695"/>
          </a:xfrm>
          <a:prstGeom prst="rect">
            <a:avLst/>
          </a:prstGeom>
        </p:spPr>
      </p:pic>
      <p:pic>
        <p:nvPicPr>
          <p:cNvPr id="56" name="Image 20" descr="preencoded.png"/>
          <p:cNvPicPr>
            <a:picLocks noChangeAspect="1"/>
          </p:cNvPicPr>
          <p:nvPr/>
        </p:nvPicPr>
        <p:blipFill>
          <a:blip r:embed="rId21"/>
          <a:srcRect l="-50" r="-50"/>
          <a:stretch/>
        </p:blipFill>
        <p:spPr>
          <a:xfrm>
            <a:off x="5924398" y="1828800"/>
            <a:ext cx="342900" cy="304495"/>
          </a:xfrm>
          <a:prstGeom prst="rect">
            <a:avLst/>
          </a:prstGeom>
        </p:spPr>
      </p:pic>
      <p:sp>
        <p:nvSpPr>
          <p:cNvPr id="57" name="Text 34"/>
          <p:cNvSpPr txBox="1"/>
          <p:nvPr/>
        </p:nvSpPr>
        <p:spPr>
          <a:xfrm>
            <a:off x="5287975" y="2553005"/>
            <a:ext cx="16194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Modeling</a:t>
            </a:r>
            <a:endParaRPr lang="en-US" sz="1300" dirty="0"/>
          </a:p>
        </p:txBody>
      </p:sp>
      <p:sp>
        <p:nvSpPr>
          <p:cNvPr id="58" name="Shape 35"/>
          <p:cNvSpPr/>
          <p:nvPr/>
        </p:nvSpPr>
        <p:spPr>
          <a:xfrm>
            <a:off x="5201107" y="3229661"/>
            <a:ext cx="17903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36"/>
          <p:cNvSpPr txBox="1"/>
          <p:nvPr/>
        </p:nvSpPr>
        <p:spPr>
          <a:xfrm>
            <a:off x="5605272" y="2924251"/>
            <a:ext cx="1458468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Star Schema Design</a:t>
            </a:r>
            <a:endParaRPr lang="en-US" sz="900" dirty="0"/>
          </a:p>
        </p:txBody>
      </p:sp>
      <p:pic>
        <p:nvPicPr>
          <p:cNvPr id="60" name="Image 21" descr="preencoded.png"/>
          <p:cNvPicPr>
            <a:picLocks noChangeAspect="1"/>
          </p:cNvPicPr>
          <p:nvPr/>
        </p:nvPicPr>
        <p:blipFill>
          <a:blip r:embed="rId22"/>
          <a:srcRect t="-870" b="-870"/>
          <a:stretch/>
        </p:blipFill>
        <p:spPr>
          <a:xfrm>
            <a:off x="5442509" y="3026664"/>
            <a:ext cx="105156" cy="95098"/>
          </a:xfrm>
          <a:prstGeom prst="rect">
            <a:avLst/>
          </a:prstGeom>
        </p:spPr>
      </p:pic>
      <p:sp>
        <p:nvSpPr>
          <p:cNvPr id="61" name="Shape 37"/>
          <p:cNvSpPr/>
          <p:nvPr/>
        </p:nvSpPr>
        <p:spPr>
          <a:xfrm>
            <a:off x="5201107" y="3538728"/>
            <a:ext cx="17903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38"/>
          <p:cNvSpPr txBox="1"/>
          <p:nvPr/>
        </p:nvSpPr>
        <p:spPr>
          <a:xfrm>
            <a:off x="5661965" y="3233318"/>
            <a:ext cx="1401775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Relationships (1:*)</a:t>
            </a:r>
            <a:endParaRPr lang="en-US" sz="900" dirty="0"/>
          </a:p>
        </p:txBody>
      </p:sp>
      <p:pic>
        <p:nvPicPr>
          <p:cNvPr id="63" name="Image 22" descr="preencoded.png"/>
          <p:cNvPicPr>
            <a:picLocks noChangeAspect="1"/>
          </p:cNvPicPr>
          <p:nvPr/>
        </p:nvPicPr>
        <p:blipFill>
          <a:blip r:embed="rId23"/>
          <a:srcRect l="-1923" r="-1923"/>
          <a:stretch/>
        </p:blipFill>
        <p:spPr>
          <a:xfrm>
            <a:off x="5480914" y="3335731"/>
            <a:ext cx="123444" cy="95098"/>
          </a:xfrm>
          <a:prstGeom prst="rect">
            <a:avLst/>
          </a:prstGeom>
        </p:spPr>
      </p:pic>
      <p:sp>
        <p:nvSpPr>
          <p:cNvPr id="64" name="Shape 39"/>
          <p:cNvSpPr/>
          <p:nvPr/>
        </p:nvSpPr>
        <p:spPr>
          <a:xfrm>
            <a:off x="5201107" y="3848710"/>
            <a:ext cx="17903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40"/>
          <p:cNvSpPr txBox="1"/>
          <p:nvPr/>
        </p:nvSpPr>
        <p:spPr>
          <a:xfrm>
            <a:off x="5557723" y="3543300"/>
            <a:ext cx="1506017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Primary/Foreign Keys</a:t>
            </a:r>
            <a:endParaRPr lang="en-US" sz="900" dirty="0"/>
          </a:p>
        </p:txBody>
      </p:sp>
      <p:pic>
        <p:nvPicPr>
          <p:cNvPr id="66" name="Image 23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5405018" y="3645713"/>
            <a:ext cx="95098" cy="95098"/>
          </a:xfrm>
          <a:prstGeom prst="rect">
            <a:avLst/>
          </a:prstGeom>
        </p:spPr>
      </p:pic>
      <p:sp>
        <p:nvSpPr>
          <p:cNvPr id="67" name="Text 41"/>
          <p:cNvSpPr txBox="1"/>
          <p:nvPr/>
        </p:nvSpPr>
        <p:spPr>
          <a:xfrm>
            <a:off x="5745175" y="3853282"/>
            <a:ext cx="131856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Date Hierarchy</a:t>
            </a:r>
            <a:endParaRPr lang="en-US" sz="900" dirty="0"/>
          </a:p>
        </p:txBody>
      </p:sp>
      <p:pic>
        <p:nvPicPr>
          <p:cNvPr id="68" name="Image 24" descr="preencoded.png"/>
          <p:cNvPicPr>
            <a:picLocks noChangeAspect="1"/>
          </p:cNvPicPr>
          <p:nvPr/>
        </p:nvPicPr>
        <p:blipFill>
          <a:blip r:embed="rId25"/>
          <a:srcRect t="-870" b="-870"/>
          <a:stretch/>
        </p:blipFill>
        <p:spPr>
          <a:xfrm>
            <a:off x="5583326" y="3955694"/>
            <a:ext cx="105156" cy="95098"/>
          </a:xfrm>
          <a:prstGeom prst="rect">
            <a:avLst/>
          </a:prstGeom>
        </p:spPr>
      </p:pic>
      <p:pic>
        <p:nvPicPr>
          <p:cNvPr id="69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657393" y="5443423"/>
            <a:ext cx="886054" cy="237744"/>
          </a:xfrm>
          <a:prstGeom prst="rect">
            <a:avLst/>
          </a:prstGeom>
        </p:spPr>
      </p:pic>
      <p:sp>
        <p:nvSpPr>
          <p:cNvPr id="70" name="Text 42"/>
          <p:cNvSpPr/>
          <p:nvPr/>
        </p:nvSpPr>
        <p:spPr>
          <a:xfrm>
            <a:off x="5657393" y="5443423"/>
            <a:ext cx="886054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8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Model</a:t>
            </a:r>
            <a:endParaRPr lang="en-US" sz="800" dirty="0"/>
          </a:p>
        </p:txBody>
      </p:sp>
      <p:pic>
        <p:nvPicPr>
          <p:cNvPr id="71" name="Image 2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2744" y="1228954"/>
            <a:ext cx="286207" cy="286207"/>
          </a:xfrm>
          <a:prstGeom prst="rect">
            <a:avLst/>
          </a:prstGeom>
        </p:spPr>
      </p:pic>
      <p:sp>
        <p:nvSpPr>
          <p:cNvPr id="72" name="Text 43"/>
          <p:cNvSpPr/>
          <p:nvPr/>
        </p:nvSpPr>
        <p:spPr>
          <a:xfrm>
            <a:off x="5952744" y="1228954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pic>
        <p:nvPicPr>
          <p:cNvPr id="73" name="Image 27" descr="preencoded.png"/>
          <p:cNvPicPr>
            <a:picLocks noChangeAspect="1"/>
          </p:cNvPicPr>
          <p:nvPr/>
        </p:nvPicPr>
        <p:blipFill>
          <a:blip r:embed="rId12"/>
          <a:srcRect t="-80" b="-80"/>
          <a:stretch/>
        </p:blipFill>
        <p:spPr>
          <a:xfrm>
            <a:off x="7172554" y="3524098"/>
            <a:ext cx="142646" cy="228600"/>
          </a:xfrm>
          <a:prstGeom prst="rect">
            <a:avLst/>
          </a:prstGeom>
        </p:spPr>
      </p:pic>
      <p:sp>
        <p:nvSpPr>
          <p:cNvPr id="74" name="Shape 44"/>
          <p:cNvSpPr/>
          <p:nvPr/>
        </p:nvSpPr>
        <p:spPr>
          <a:xfrm>
            <a:off x="7334402" y="1371600"/>
            <a:ext cx="2095805" cy="4572000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Shape 45"/>
          <p:cNvSpPr/>
          <p:nvPr/>
        </p:nvSpPr>
        <p:spPr>
          <a:xfrm>
            <a:off x="7334402" y="5905195"/>
            <a:ext cx="2095805" cy="38405"/>
          </a:xfrm>
          <a:prstGeom prst="roundRect">
            <a:avLst>
              <a:gd name="adj" fmla="val 129869"/>
            </a:avLst>
          </a:prstGeom>
          <a:solidFill>
            <a:srgbClr val="66BB6A"/>
          </a:solidFill>
          <a:ln w="12700">
            <a:solidFill>
              <a:srgbClr val="66BB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6" name="Image 28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8001000" y="1600200"/>
            <a:ext cx="761695" cy="761695"/>
          </a:xfrm>
          <a:prstGeom prst="rect">
            <a:avLst/>
          </a:prstGeom>
        </p:spPr>
      </p:pic>
      <p:pic>
        <p:nvPicPr>
          <p:cNvPr id="77" name="Image 29" descr="preencoded.png"/>
          <p:cNvPicPr>
            <a:picLocks noChangeAspect="1"/>
          </p:cNvPicPr>
          <p:nvPr/>
        </p:nvPicPr>
        <p:blipFill>
          <a:blip r:embed="rId28"/>
          <a:srcRect l="-50" r="-50"/>
          <a:stretch/>
        </p:blipFill>
        <p:spPr>
          <a:xfrm>
            <a:off x="8268005" y="1828800"/>
            <a:ext cx="228600" cy="304495"/>
          </a:xfrm>
          <a:prstGeom prst="rect">
            <a:avLst/>
          </a:prstGeom>
        </p:spPr>
      </p:pic>
      <p:sp>
        <p:nvSpPr>
          <p:cNvPr id="78" name="Text 46"/>
          <p:cNvSpPr txBox="1"/>
          <p:nvPr/>
        </p:nvSpPr>
        <p:spPr>
          <a:xfrm>
            <a:off x="7625182" y="2553005"/>
            <a:ext cx="15151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DAX Analytics</a:t>
            </a:r>
            <a:endParaRPr lang="en-US" sz="1300" dirty="0"/>
          </a:p>
        </p:txBody>
      </p:sp>
      <p:sp>
        <p:nvSpPr>
          <p:cNvPr id="79" name="Shape 47"/>
          <p:cNvSpPr/>
          <p:nvPr/>
        </p:nvSpPr>
        <p:spPr>
          <a:xfrm>
            <a:off x="7487107" y="3229661"/>
            <a:ext cx="17903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48"/>
          <p:cNvSpPr txBox="1"/>
          <p:nvPr/>
        </p:nvSpPr>
        <p:spPr>
          <a:xfrm>
            <a:off x="7970825" y="2924251"/>
            <a:ext cx="1378915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Time Intelligence</a:t>
            </a:r>
            <a:endParaRPr lang="en-US" sz="900" dirty="0"/>
          </a:p>
        </p:txBody>
      </p:sp>
      <p:pic>
        <p:nvPicPr>
          <p:cNvPr id="81" name="Image 30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7818120" y="3026664"/>
            <a:ext cx="95098" cy="95098"/>
          </a:xfrm>
          <a:prstGeom prst="rect">
            <a:avLst/>
          </a:prstGeom>
        </p:spPr>
      </p:pic>
      <p:sp>
        <p:nvSpPr>
          <p:cNvPr id="82" name="Shape 49"/>
          <p:cNvSpPr/>
          <p:nvPr/>
        </p:nvSpPr>
        <p:spPr>
          <a:xfrm>
            <a:off x="7487107" y="3538728"/>
            <a:ext cx="17903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50"/>
          <p:cNvSpPr txBox="1"/>
          <p:nvPr/>
        </p:nvSpPr>
        <p:spPr>
          <a:xfrm>
            <a:off x="8058607" y="3233318"/>
            <a:ext cx="129113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KPI Measures</a:t>
            </a:r>
            <a:endParaRPr lang="en-US" sz="900" dirty="0"/>
          </a:p>
        </p:txBody>
      </p:sp>
      <p:pic>
        <p:nvPicPr>
          <p:cNvPr id="84" name="Image 31" descr="preencoded.png"/>
          <p:cNvPicPr>
            <a:picLocks noChangeAspect="1"/>
          </p:cNvPicPr>
          <p:nvPr/>
        </p:nvPicPr>
        <p:blipFill>
          <a:blip r:embed="rId30"/>
          <a:srcRect l="-3205" r="-3205"/>
          <a:stretch/>
        </p:blipFill>
        <p:spPr>
          <a:xfrm>
            <a:off x="7925105" y="3335731"/>
            <a:ext cx="75895" cy="95098"/>
          </a:xfrm>
          <a:prstGeom prst="rect">
            <a:avLst/>
          </a:prstGeom>
        </p:spPr>
      </p:pic>
      <p:sp>
        <p:nvSpPr>
          <p:cNvPr id="85" name="Shape 51"/>
          <p:cNvSpPr/>
          <p:nvPr/>
        </p:nvSpPr>
        <p:spPr>
          <a:xfrm>
            <a:off x="7487107" y="3848710"/>
            <a:ext cx="17903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52"/>
          <p:cNvSpPr txBox="1"/>
          <p:nvPr/>
        </p:nvSpPr>
        <p:spPr>
          <a:xfrm>
            <a:off x="8086039" y="3543300"/>
            <a:ext cx="126370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Aggregations</a:t>
            </a:r>
            <a:endParaRPr lang="en-US" sz="900" dirty="0"/>
          </a:p>
        </p:txBody>
      </p:sp>
      <p:pic>
        <p:nvPicPr>
          <p:cNvPr id="87" name="Image 32" descr="preencoded.png"/>
          <p:cNvPicPr>
            <a:picLocks noChangeAspect="1"/>
          </p:cNvPicPr>
          <p:nvPr/>
        </p:nvPicPr>
        <p:blipFill>
          <a:blip r:embed="rId31"/>
          <a:srcRect t="-870" b="-870"/>
          <a:stretch/>
        </p:blipFill>
        <p:spPr>
          <a:xfrm>
            <a:off x="7924190" y="3645713"/>
            <a:ext cx="105156" cy="95098"/>
          </a:xfrm>
          <a:prstGeom prst="rect">
            <a:avLst/>
          </a:prstGeom>
        </p:spPr>
      </p:pic>
      <p:sp>
        <p:nvSpPr>
          <p:cNvPr id="88" name="Text 53"/>
          <p:cNvSpPr txBox="1"/>
          <p:nvPr/>
        </p:nvSpPr>
        <p:spPr>
          <a:xfrm>
            <a:off x="7958938" y="3853282"/>
            <a:ext cx="13908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Dynamic Filtering</a:t>
            </a:r>
            <a:endParaRPr lang="en-US" sz="900" dirty="0"/>
          </a:p>
        </p:txBody>
      </p:sp>
      <p:pic>
        <p:nvPicPr>
          <p:cNvPr id="89" name="Image 33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7806233" y="3955694"/>
            <a:ext cx="95098" cy="95098"/>
          </a:xfrm>
          <a:prstGeom prst="rect">
            <a:avLst/>
          </a:prstGeom>
        </p:spPr>
      </p:pic>
      <p:pic>
        <p:nvPicPr>
          <p:cNvPr id="90" name="Image 34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862011" y="5443423"/>
            <a:ext cx="1047902" cy="237744"/>
          </a:xfrm>
          <a:prstGeom prst="rect">
            <a:avLst/>
          </a:prstGeom>
        </p:spPr>
      </p:pic>
      <p:sp>
        <p:nvSpPr>
          <p:cNvPr id="91" name="Text 54"/>
          <p:cNvSpPr/>
          <p:nvPr/>
        </p:nvSpPr>
        <p:spPr>
          <a:xfrm>
            <a:off x="7862011" y="5443423"/>
            <a:ext cx="104790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8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DAX Measures</a:t>
            </a:r>
            <a:endParaRPr lang="en-US" sz="800" dirty="0"/>
          </a:p>
        </p:txBody>
      </p:sp>
      <p:pic>
        <p:nvPicPr>
          <p:cNvPr id="92" name="Image 3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38744" y="1228954"/>
            <a:ext cx="286207" cy="286207"/>
          </a:xfrm>
          <a:prstGeom prst="rect">
            <a:avLst/>
          </a:prstGeom>
        </p:spPr>
      </p:pic>
      <p:sp>
        <p:nvSpPr>
          <p:cNvPr id="93" name="Text 55"/>
          <p:cNvSpPr/>
          <p:nvPr/>
        </p:nvSpPr>
        <p:spPr>
          <a:xfrm>
            <a:off x="8238744" y="1228954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pic>
        <p:nvPicPr>
          <p:cNvPr id="94" name="Image 36" descr="preencoded.png"/>
          <p:cNvPicPr>
            <a:picLocks noChangeAspect="1"/>
          </p:cNvPicPr>
          <p:nvPr/>
        </p:nvPicPr>
        <p:blipFill>
          <a:blip r:embed="rId12"/>
          <a:srcRect t="-80" b="-80"/>
          <a:stretch/>
        </p:blipFill>
        <p:spPr>
          <a:xfrm>
            <a:off x="9458554" y="3524098"/>
            <a:ext cx="142646" cy="228600"/>
          </a:xfrm>
          <a:prstGeom prst="rect">
            <a:avLst/>
          </a:prstGeom>
        </p:spPr>
      </p:pic>
      <p:sp>
        <p:nvSpPr>
          <p:cNvPr id="95" name="Shape 56"/>
          <p:cNvSpPr/>
          <p:nvPr/>
        </p:nvSpPr>
        <p:spPr>
          <a:xfrm>
            <a:off x="9620402" y="1371600"/>
            <a:ext cx="2095805" cy="4572000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6" name="Shape 57"/>
          <p:cNvSpPr/>
          <p:nvPr/>
        </p:nvSpPr>
        <p:spPr>
          <a:xfrm>
            <a:off x="9620402" y="5905195"/>
            <a:ext cx="2095805" cy="38405"/>
          </a:xfrm>
          <a:prstGeom prst="roundRect">
            <a:avLst>
              <a:gd name="adj" fmla="val 129869"/>
            </a:avLst>
          </a:prstGeom>
          <a:solidFill>
            <a:srgbClr val="AB47BC"/>
          </a:solidFill>
          <a:ln w="12700">
            <a:solidFill>
              <a:srgbClr val="AB47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7" name="Image 37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10287000" y="1600200"/>
            <a:ext cx="761695" cy="761695"/>
          </a:xfrm>
          <a:prstGeom prst="rect">
            <a:avLst/>
          </a:prstGeom>
        </p:spPr>
      </p:pic>
      <p:pic>
        <p:nvPicPr>
          <p:cNvPr id="98" name="Image 38" descr="preencoded.png"/>
          <p:cNvPicPr>
            <a:picLocks noChangeAspect="1"/>
          </p:cNvPicPr>
          <p:nvPr/>
        </p:nvPicPr>
        <p:blipFill>
          <a:blip r:embed="rId35"/>
          <a:srcRect l="-50" r="-50"/>
          <a:stretch/>
        </p:blipFill>
        <p:spPr>
          <a:xfrm>
            <a:off x="10496398" y="1828800"/>
            <a:ext cx="342900" cy="304495"/>
          </a:xfrm>
          <a:prstGeom prst="rect">
            <a:avLst/>
          </a:prstGeom>
        </p:spPr>
      </p:pic>
      <p:sp>
        <p:nvSpPr>
          <p:cNvPr id="99" name="Text 58"/>
          <p:cNvSpPr txBox="1"/>
          <p:nvPr/>
        </p:nvSpPr>
        <p:spPr>
          <a:xfrm>
            <a:off x="9978847" y="2553005"/>
            <a:ext cx="13816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Dashboards</a:t>
            </a:r>
            <a:endParaRPr lang="en-US" sz="1300" dirty="0"/>
          </a:p>
        </p:txBody>
      </p:sp>
      <p:sp>
        <p:nvSpPr>
          <p:cNvPr id="100" name="Shape 59"/>
          <p:cNvSpPr/>
          <p:nvPr/>
        </p:nvSpPr>
        <p:spPr>
          <a:xfrm>
            <a:off x="9773107" y="3229661"/>
            <a:ext cx="17903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60"/>
          <p:cNvSpPr txBox="1"/>
          <p:nvPr/>
        </p:nvSpPr>
        <p:spPr>
          <a:xfrm>
            <a:off x="10214762" y="2924251"/>
            <a:ext cx="1420978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Interactive Visuals</a:t>
            </a:r>
            <a:endParaRPr lang="en-US" sz="900" dirty="0"/>
          </a:p>
        </p:txBody>
      </p:sp>
      <p:pic>
        <p:nvPicPr>
          <p:cNvPr id="102" name="Image 39" descr="preencoded.png"/>
          <p:cNvPicPr>
            <a:picLocks noChangeAspect="1"/>
          </p:cNvPicPr>
          <p:nvPr/>
        </p:nvPicPr>
        <p:blipFill>
          <a:blip r:embed="rId36"/>
          <a:srcRect l="-3205" r="-3205"/>
          <a:stretch/>
        </p:blipFill>
        <p:spPr>
          <a:xfrm>
            <a:off x="10080346" y="3026664"/>
            <a:ext cx="75895" cy="95098"/>
          </a:xfrm>
          <a:prstGeom prst="rect">
            <a:avLst/>
          </a:prstGeom>
        </p:spPr>
      </p:pic>
      <p:sp>
        <p:nvSpPr>
          <p:cNvPr id="103" name="Shape 61"/>
          <p:cNvSpPr/>
          <p:nvPr/>
        </p:nvSpPr>
        <p:spPr>
          <a:xfrm>
            <a:off x="9773107" y="3538728"/>
            <a:ext cx="17903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62"/>
          <p:cNvSpPr txBox="1"/>
          <p:nvPr/>
        </p:nvSpPr>
        <p:spPr>
          <a:xfrm>
            <a:off x="10172700" y="3233318"/>
            <a:ext cx="146304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Drill-Down Features</a:t>
            </a:r>
            <a:endParaRPr lang="en-US" sz="900" dirty="0"/>
          </a:p>
        </p:txBody>
      </p:sp>
      <p:pic>
        <p:nvPicPr>
          <p:cNvPr id="105" name="Image 40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10019995" y="3335731"/>
            <a:ext cx="95098" cy="95098"/>
          </a:xfrm>
          <a:prstGeom prst="rect">
            <a:avLst/>
          </a:prstGeom>
        </p:spPr>
      </p:pic>
      <p:sp>
        <p:nvSpPr>
          <p:cNvPr id="106" name="Shape 63"/>
          <p:cNvSpPr/>
          <p:nvPr/>
        </p:nvSpPr>
        <p:spPr>
          <a:xfrm>
            <a:off x="9773107" y="3848710"/>
            <a:ext cx="17903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64"/>
          <p:cNvSpPr txBox="1"/>
          <p:nvPr/>
        </p:nvSpPr>
        <p:spPr>
          <a:xfrm>
            <a:off x="10266883" y="3543300"/>
            <a:ext cx="1368857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Alert Thresholds</a:t>
            </a:r>
            <a:endParaRPr lang="en-US" sz="900" dirty="0"/>
          </a:p>
        </p:txBody>
      </p:sp>
      <p:pic>
        <p:nvPicPr>
          <p:cNvPr id="108" name="Image 41" descr="preencoded.png"/>
          <p:cNvPicPr>
            <a:picLocks noChangeAspect="1"/>
          </p:cNvPicPr>
          <p:nvPr/>
        </p:nvPicPr>
        <p:blipFill>
          <a:blip r:embed="rId38"/>
          <a:srcRect l="-1648" r="-1648"/>
          <a:stretch/>
        </p:blipFill>
        <p:spPr>
          <a:xfrm>
            <a:off x="10123322" y="3645713"/>
            <a:ext cx="85954" cy="95098"/>
          </a:xfrm>
          <a:prstGeom prst="rect">
            <a:avLst/>
          </a:prstGeom>
        </p:spPr>
      </p:pic>
      <p:sp>
        <p:nvSpPr>
          <p:cNvPr id="109" name="Text 65"/>
          <p:cNvSpPr txBox="1"/>
          <p:nvPr/>
        </p:nvSpPr>
        <p:spPr>
          <a:xfrm>
            <a:off x="10178186" y="3853282"/>
            <a:ext cx="14575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Executive Reporting</a:t>
            </a:r>
            <a:endParaRPr lang="en-US" sz="900" dirty="0"/>
          </a:p>
        </p:txBody>
      </p:sp>
      <p:pic>
        <p:nvPicPr>
          <p:cNvPr id="110" name="Image 42" descr="preencoded.png"/>
          <p:cNvPicPr>
            <a:picLocks noChangeAspect="1"/>
          </p:cNvPicPr>
          <p:nvPr/>
        </p:nvPicPr>
        <p:blipFill>
          <a:blip r:embed="rId39"/>
          <a:srcRect t="-870" b="-870"/>
          <a:stretch/>
        </p:blipFill>
        <p:spPr>
          <a:xfrm>
            <a:off x="10015423" y="3955694"/>
            <a:ext cx="105156" cy="95098"/>
          </a:xfrm>
          <a:prstGeom prst="rect">
            <a:avLst/>
          </a:prstGeom>
        </p:spPr>
      </p:pic>
      <p:pic>
        <p:nvPicPr>
          <p:cNvPr id="111" name="Image 43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303459" y="5443423"/>
            <a:ext cx="733349" cy="237744"/>
          </a:xfrm>
          <a:prstGeom prst="rect">
            <a:avLst/>
          </a:prstGeom>
        </p:spPr>
      </p:pic>
      <p:sp>
        <p:nvSpPr>
          <p:cNvPr id="112" name="Text 66"/>
          <p:cNvSpPr/>
          <p:nvPr/>
        </p:nvSpPr>
        <p:spPr>
          <a:xfrm>
            <a:off x="10303459" y="5443423"/>
            <a:ext cx="734263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8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BI</a:t>
            </a:r>
            <a:endParaRPr lang="en-US" sz="800" dirty="0"/>
          </a:p>
        </p:txBody>
      </p:sp>
      <p:pic>
        <p:nvPicPr>
          <p:cNvPr id="113" name="Image 4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24744" y="1228954"/>
            <a:ext cx="286207" cy="286207"/>
          </a:xfrm>
          <a:prstGeom prst="rect">
            <a:avLst/>
          </a:prstGeom>
        </p:spPr>
      </p:pic>
      <p:sp>
        <p:nvSpPr>
          <p:cNvPr id="114" name="Text 67"/>
          <p:cNvSpPr/>
          <p:nvPr/>
        </p:nvSpPr>
        <p:spPr>
          <a:xfrm>
            <a:off x="10524744" y="1228954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115" name="Shape 68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" name="Text 69"/>
          <p:cNvSpPr txBox="1"/>
          <p:nvPr/>
        </p:nvSpPr>
        <p:spPr>
          <a:xfrm>
            <a:off x="571500" y="71323"/>
            <a:ext cx="631576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Pipeline &amp; Architecture</a:t>
            </a:r>
            <a:endParaRPr lang="en-US" sz="2700" dirty="0"/>
          </a:p>
        </p:txBody>
      </p:sp>
      <p:sp>
        <p:nvSpPr>
          <p:cNvPr id="117" name="Text 70"/>
          <p:cNvSpPr txBox="1"/>
          <p:nvPr/>
        </p:nvSpPr>
        <p:spPr>
          <a:xfrm>
            <a:off x="571500" y="623621"/>
            <a:ext cx="68104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DD0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End-to-End Analytics Workflow: From Raw Data to Actionable Insights</a:t>
            </a:r>
            <a:endParaRPr lang="en-US" sz="1300" dirty="0"/>
          </a:p>
        </p:txBody>
      </p:sp>
      <p:pic>
        <p:nvPicPr>
          <p:cNvPr id="118" name="Image 45" descr="preencoded.png"/>
          <p:cNvPicPr>
            <a:picLocks noChangeAspect="1"/>
          </p:cNvPicPr>
          <p:nvPr/>
        </p:nvPicPr>
        <p:blipFill>
          <a:blip r:embed="rId41">
            <a:alphaModFix amt="80000"/>
          </a:blip>
          <a:srcRect l="-266" r="-266"/>
          <a:stretch/>
        </p:blipFill>
        <p:spPr>
          <a:xfrm>
            <a:off x="9285732" y="333756"/>
            <a:ext cx="323698" cy="286207"/>
          </a:xfrm>
          <a:prstGeom prst="rect">
            <a:avLst/>
          </a:prstGeom>
        </p:spPr>
      </p:pic>
      <p:sp>
        <p:nvSpPr>
          <p:cNvPr id="119" name="Text 71"/>
          <p:cNvSpPr txBox="1"/>
          <p:nvPr/>
        </p:nvSpPr>
        <p:spPr>
          <a:xfrm>
            <a:off x="9686239" y="333756"/>
            <a:ext cx="211043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HEALTHANALYTICS</a:t>
            </a:r>
            <a:endParaRPr lang="en-US" sz="1500" dirty="0"/>
          </a:p>
        </p:txBody>
      </p:sp>
      <p:sp>
        <p:nvSpPr>
          <p:cNvPr id="120" name="Text 72"/>
          <p:cNvSpPr txBox="1"/>
          <p:nvPr/>
        </p:nvSpPr>
        <p:spPr>
          <a:xfrm>
            <a:off x="10490911" y="342900"/>
            <a:ext cx="12097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ANALYTICS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09244"/>
            <a:ext cx="12191695" cy="767730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1500" y="1095451"/>
            <a:ext cx="7181698" cy="7105802"/>
          </a:xfrm>
          <a:prstGeom prst="roundRect">
            <a:avLst>
              <a:gd name="adj" fmla="val 27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00100" y="1324051"/>
            <a:ext cx="402518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 Visitor Volume (2019 vs 2020)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52490" y="1404518"/>
            <a:ext cx="95098" cy="95098"/>
          </a:xfrm>
          <a:prstGeom prst="ellipse">
            <a:avLst/>
          </a:prstGeom>
          <a:solidFill>
            <a:srgbClr val="90A4A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905195" y="1367028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0" y="1404518"/>
            <a:ext cx="95098" cy="95098"/>
          </a:xfrm>
          <a:prstGeom prst="ellipse">
            <a:avLst/>
          </a:prstGeom>
          <a:solidFill>
            <a:srgbClr val="00AC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62065" y="1367028"/>
            <a:ext cx="125821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2020 (Analysis Year)</a:t>
            </a:r>
            <a:endParaRPr lang="en-US" sz="9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11" b="-11"/>
          <a:stretch/>
        </p:blipFill>
        <p:spPr>
          <a:xfrm>
            <a:off x="800100" y="1772107"/>
            <a:ext cx="6724498" cy="574334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00100" y="7665415"/>
            <a:ext cx="6724498" cy="304495"/>
          </a:xfrm>
          <a:prstGeom prst="roundRect">
            <a:avLst>
              <a:gd name="adj" fmla="val 37538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89888" y="7761427"/>
            <a:ext cx="114300" cy="1143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80083" y="7665415"/>
            <a:ext cx="5429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Note:</a:t>
            </a: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Shaded region highlights the Q2-Q3 peak season where volume consistently exceeds baseline.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8033004" y="1095451"/>
            <a:ext cx="3590849" cy="1447495"/>
          </a:xfrm>
          <a:prstGeom prst="roundRect">
            <a:avLst>
              <a:gd name="adj" fmla="val 498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033004" y="1095451"/>
            <a:ext cx="47549" cy="1447495"/>
          </a:xfrm>
          <a:prstGeom prst="roundRect">
            <a:avLst>
              <a:gd name="adj" fmla="val 151821"/>
            </a:avLst>
          </a:prstGeom>
          <a:solidFill>
            <a:srgbClr val="FFA726"/>
          </a:solidFill>
          <a:ln w="12700">
            <a:solidFill>
              <a:srgbClr val="FFA7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270748" y="1285646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FF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56702" y="1371600"/>
            <a:ext cx="133502" cy="1335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671255" y="1338682"/>
            <a:ext cx="13624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55A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Seasonal Surge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8270748" y="1666951"/>
            <a:ext cx="32772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F6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+53.9%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8270748" y="1997964"/>
            <a:ext cx="3238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Higher visitor volume observed in </a:t>
            </a:r>
            <a:r>
              <a:rPr lang="en-US" sz="900" b="1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Q2 &amp; Q3</a:t>
            </a: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compared to Q1 &amp; Q4, driven by seasonal health factors. 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8033004" y="2725826"/>
            <a:ext cx="3590849" cy="1447495"/>
          </a:xfrm>
          <a:prstGeom prst="roundRect">
            <a:avLst>
              <a:gd name="adj" fmla="val 498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8033004" y="2725826"/>
            <a:ext cx="47549" cy="1447495"/>
          </a:xfrm>
          <a:prstGeom prst="roundRect">
            <a:avLst>
              <a:gd name="adj" fmla="val 151821"/>
            </a:avLst>
          </a:prstGeom>
          <a:solidFill>
            <a:srgbClr val="AB47BC"/>
          </a:solidFill>
          <a:ln w="12700">
            <a:solidFill>
              <a:srgbClr val="AB47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8270748" y="2916936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3E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8365846" y="3001975"/>
            <a:ext cx="114300" cy="13350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671255" y="2969057"/>
            <a:ext cx="18004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55A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Weekday vs Weekend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8270748" y="3297326"/>
            <a:ext cx="32772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8E24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+148.8%</a:t>
            </a:r>
            <a:endParaRPr lang="en-US" sz="2100" dirty="0"/>
          </a:p>
        </p:txBody>
      </p:sp>
      <p:sp>
        <p:nvSpPr>
          <p:cNvPr id="28" name="Text 22"/>
          <p:cNvSpPr txBox="1"/>
          <p:nvPr/>
        </p:nvSpPr>
        <p:spPr>
          <a:xfrm>
            <a:off x="8270748" y="3629254"/>
            <a:ext cx="3238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Weekdays show significantly higher traffic. Mondays and Wednesdays are the busiest days of the week.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8033004" y="4357116"/>
            <a:ext cx="3590849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8033004" y="4357116"/>
            <a:ext cx="47549" cy="1619402"/>
          </a:xfrm>
          <a:prstGeom prst="roundRect">
            <a:avLst>
              <a:gd name="adj" fmla="val 135746"/>
            </a:avLst>
          </a:prstGeom>
          <a:solidFill>
            <a:srgbClr val="29B6F6"/>
          </a:solidFill>
          <a:ln w="12700">
            <a:solidFill>
              <a:srgbClr val="29B6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8270748" y="4547311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E1F5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356702" y="4633265"/>
            <a:ext cx="133502" cy="13350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671255" y="4599432"/>
            <a:ext cx="14676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55A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 Pattern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8270748" y="4928616"/>
            <a:ext cx="32772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288D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Week</a:t>
            </a:r>
            <a:endParaRPr lang="en-US" sz="2100" dirty="0"/>
          </a:p>
        </p:txBody>
      </p:sp>
      <p:sp>
        <p:nvSpPr>
          <p:cNvPr id="35" name="Text 28"/>
          <p:cNvSpPr txBox="1"/>
          <p:nvPr/>
        </p:nvSpPr>
        <p:spPr>
          <a:xfrm>
            <a:off x="8270748" y="5259629"/>
            <a:ext cx="323880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Consistent spike in visitor counts during the </a:t>
            </a:r>
            <a:r>
              <a:rPr lang="en-US" sz="900" b="1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last week</a:t>
            </a: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every month, suggesting scheduled follow-up cycles. 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8033004" y="6161227"/>
            <a:ext cx="3590849" cy="2038198"/>
          </a:xfrm>
          <a:prstGeom prst="roundRect">
            <a:avLst>
              <a:gd name="adj" fmla="val 2516"/>
            </a:avLst>
          </a:prstGeom>
          <a:solidFill>
            <a:srgbClr val="004D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 txBox="1"/>
          <p:nvPr/>
        </p:nvSpPr>
        <p:spPr>
          <a:xfrm>
            <a:off x="8451799" y="6389827"/>
            <a:ext cx="305866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80CB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Business Implication </a:t>
            </a:r>
            <a:endParaRPr lang="en-US" sz="10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 l="-7078" r="-7078"/>
          <a:stretch/>
        </p:blipFill>
        <p:spPr>
          <a:xfrm>
            <a:off x="8261604" y="6422746"/>
            <a:ext cx="114300" cy="133502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8261604" y="6685178"/>
            <a:ext cx="3210458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Predictable demand patterns allow for </a:t>
            </a: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dynamic resource planning</a:t>
            </a: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Staffing levels can be optimized by shifting resources from weekends/Q4 to peak Q2-Q3 weekdays, preventing burnout and reducing overtime costs. 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0" y="0"/>
            <a:ext cx="12191695" cy="809244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3"/>
          <p:cNvSpPr txBox="1"/>
          <p:nvPr/>
        </p:nvSpPr>
        <p:spPr>
          <a:xfrm>
            <a:off x="571500" y="0"/>
            <a:ext cx="746973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 : Visitor Pattern Analysis</a:t>
            </a:r>
            <a:endParaRPr lang="en-US" sz="2700" dirty="0"/>
          </a:p>
        </p:txBody>
      </p:sp>
      <p:sp>
        <p:nvSpPr>
          <p:cNvPr id="42" name="Text 34"/>
          <p:cNvSpPr txBox="1"/>
          <p:nvPr/>
        </p:nvSpPr>
        <p:spPr>
          <a:xfrm>
            <a:off x="571500" y="552298"/>
            <a:ext cx="58110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DD0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Uncovering Seasonal Trends &amp; Demand Cycles</a:t>
            </a:r>
            <a:endParaRPr lang="en-US" sz="1300" dirty="0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>
            <a:alphaModFix amt="80000"/>
          </a:blip>
          <a:srcRect l="-266" r="-266"/>
          <a:stretch/>
        </p:blipFill>
        <p:spPr>
          <a:xfrm>
            <a:off x="9285732" y="261518"/>
            <a:ext cx="323698" cy="286207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9686239" y="261518"/>
            <a:ext cx="211043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HEALTHANALYTICS</a:t>
            </a:r>
            <a:endParaRPr lang="en-US" sz="1500" dirty="0"/>
          </a:p>
        </p:txBody>
      </p:sp>
      <p:sp>
        <p:nvSpPr>
          <p:cNvPr id="45" name="Text 36"/>
          <p:cNvSpPr txBox="1"/>
          <p:nvPr/>
        </p:nvSpPr>
        <p:spPr>
          <a:xfrm>
            <a:off x="10490911" y="271577"/>
            <a:ext cx="12097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ANALYTICS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09244"/>
            <a:ext cx="12191695" cy="774405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71500" y="1190549"/>
            <a:ext cx="3448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Campaign Logic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381805" y="1190549"/>
            <a:ext cx="7239305" cy="5362956"/>
          </a:xfrm>
          <a:prstGeom prst="roundRect">
            <a:avLst>
              <a:gd name="adj" fmla="val 4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619549" y="1429207"/>
            <a:ext cx="43662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Comparison: Baseline vs Campaign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0990" y="1380744"/>
            <a:ext cx="771754" cy="31455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60990" y="1380744"/>
            <a:ext cx="771754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ROI: 19x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120" b="-120"/>
          <a:stretch/>
        </p:blipFill>
        <p:spPr>
          <a:xfrm>
            <a:off x="4619549" y="1904695"/>
            <a:ext cx="6762902" cy="4105656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19549" y="6176772"/>
            <a:ext cx="114300" cy="1143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809744" y="6157570"/>
            <a:ext cx="50392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Campaign significantly outperforms baseline organic conversion (estimated &lt; 1%).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4381805" y="6834226"/>
            <a:ext cx="3504895" cy="1333195"/>
          </a:xfrm>
          <a:prstGeom prst="roundRect">
            <a:avLst>
              <a:gd name="adj" fmla="val 783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4381805" y="8119872"/>
            <a:ext cx="3504895" cy="47549"/>
          </a:xfrm>
          <a:prstGeom prst="roundRect">
            <a:avLst>
              <a:gd name="adj" fmla="val 219779"/>
            </a:avLst>
          </a:prstGeom>
          <a:solidFill>
            <a:srgbClr val="EF5350"/>
          </a:solidFill>
          <a:ln w="12700">
            <a:solidFill>
              <a:srgbClr val="EF53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572000" y="6865315"/>
            <a:ext cx="381305" cy="190195"/>
          </a:xfrm>
          <a:prstGeom prst="roundRect">
            <a:avLst>
              <a:gd name="adj" fmla="val 192308"/>
            </a:avLst>
          </a:prstGeom>
          <a:solidFill>
            <a:srgbClr val="FFEB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67098" y="6865315"/>
            <a:ext cx="190195" cy="19019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572000" y="7150608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Campaign Cost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4572000" y="7384694"/>
            <a:ext cx="33147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$50,000</a:t>
            </a:r>
            <a:endParaRPr lang="en-US" sz="27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0" y="7936992"/>
            <a:ext cx="3238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One-time implementation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8119872" y="6834226"/>
            <a:ext cx="3504895" cy="1333195"/>
          </a:xfrm>
          <a:prstGeom prst="roundRect">
            <a:avLst>
              <a:gd name="adj" fmla="val 783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8119872" y="8119872"/>
            <a:ext cx="3504895" cy="47549"/>
          </a:xfrm>
          <a:prstGeom prst="roundRect">
            <a:avLst>
              <a:gd name="adj" fmla="val 219779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8310982" y="6770218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06079" y="6865315"/>
            <a:ext cx="190195" cy="190195"/>
          </a:xfrm>
          <a:prstGeom prst="rect">
            <a:avLst/>
          </a:prstGeom>
        </p:spPr>
      </p:pic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73945" y="6770218"/>
            <a:ext cx="1362456" cy="2286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73945" y="6770218"/>
            <a:ext cx="1362456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Primary Outcome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8310982" y="7245706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Net Financial Gain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8310982" y="7479792"/>
            <a:ext cx="33147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7D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$944,700</a:t>
            </a:r>
            <a:endParaRPr lang="en-US" sz="2700" dirty="0"/>
          </a:p>
        </p:txBody>
      </p:sp>
      <p:sp>
        <p:nvSpPr>
          <p:cNvPr id="28" name="Text 20"/>
          <p:cNvSpPr txBox="1"/>
          <p:nvPr/>
        </p:nvSpPr>
        <p:spPr>
          <a:xfrm>
            <a:off x="8310982" y="8032090"/>
            <a:ext cx="3238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minus operational campaign costs</a:t>
            </a:r>
            <a:endParaRPr lang="en-US" sz="9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rcRect l="-1773" r="-1773"/>
          <a:stretch/>
        </p:blipFill>
        <p:spPr>
          <a:xfrm>
            <a:off x="2171700" y="2719426"/>
            <a:ext cx="133502" cy="171907"/>
          </a:xfrm>
          <a:prstGeom prst="rect">
            <a:avLst/>
          </a:prstGeom>
        </p:spPr>
      </p:pic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9"/>
          <a:srcRect l="-1773" r="-1773"/>
          <a:stretch/>
        </p:blipFill>
        <p:spPr>
          <a:xfrm>
            <a:off x="2171700" y="4105656"/>
            <a:ext cx="133502" cy="171907"/>
          </a:xfrm>
          <a:prstGeom prst="rect">
            <a:avLst/>
          </a:prstGeom>
        </p:spPr>
      </p:pic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9"/>
          <a:srcRect l="-1773" r="-1773"/>
          <a:stretch/>
        </p:blipFill>
        <p:spPr>
          <a:xfrm>
            <a:off x="2171700" y="5490972"/>
            <a:ext cx="133502" cy="171907"/>
          </a:xfrm>
          <a:prstGeom prst="rect">
            <a:avLst/>
          </a:prstGeom>
        </p:spPr>
      </p:pic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9"/>
          <a:srcRect l="-1773" r="-1773"/>
          <a:stretch/>
        </p:blipFill>
        <p:spPr>
          <a:xfrm>
            <a:off x="2171700" y="6877202"/>
            <a:ext cx="133502" cy="171907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571500" y="1600200"/>
            <a:ext cx="3333902" cy="1028700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2"/>
          <p:cNvSpPr/>
          <p:nvPr/>
        </p:nvSpPr>
        <p:spPr>
          <a:xfrm>
            <a:off x="571500" y="1600200"/>
            <a:ext cx="47549" cy="1028700"/>
          </a:xfrm>
          <a:prstGeom prst="roundRect">
            <a:avLst>
              <a:gd name="adj" fmla="val 213674"/>
            </a:avLst>
          </a:prstGeom>
          <a:solidFill>
            <a:srgbClr val="90A4AE"/>
          </a:solidFill>
          <a:ln w="12700">
            <a:solidFill>
              <a:srgbClr val="90A4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3"/>
          <p:cNvSpPr txBox="1"/>
          <p:nvPr/>
        </p:nvSpPr>
        <p:spPr>
          <a:xfrm>
            <a:off x="809244" y="1742846"/>
            <a:ext cx="30202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 Audience</a:t>
            </a:r>
            <a:endParaRPr lang="en-US" sz="900" dirty="0"/>
          </a:p>
        </p:txBody>
      </p:sp>
      <p:sp>
        <p:nvSpPr>
          <p:cNvPr id="36" name="Text 24"/>
          <p:cNvSpPr txBox="1"/>
          <p:nvPr/>
        </p:nvSpPr>
        <p:spPr>
          <a:xfrm>
            <a:off x="809244" y="1952244"/>
            <a:ext cx="3020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9,476</a:t>
            </a:r>
            <a:endParaRPr lang="en-US" sz="1800" dirty="0"/>
          </a:p>
        </p:txBody>
      </p:sp>
      <p:sp>
        <p:nvSpPr>
          <p:cNvPr id="37" name="Text 25"/>
          <p:cNvSpPr txBox="1"/>
          <p:nvPr/>
        </p:nvSpPr>
        <p:spPr>
          <a:xfrm>
            <a:off x="809244" y="2295144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Non-Registered Visitors (Annual)</a:t>
            </a:r>
            <a:endParaRPr lang="en-US" sz="900" dirty="0"/>
          </a:p>
        </p:txBody>
      </p:sp>
      <p:sp>
        <p:nvSpPr>
          <p:cNvPr id="38" name="Shape 26"/>
          <p:cNvSpPr/>
          <p:nvPr/>
        </p:nvSpPr>
        <p:spPr>
          <a:xfrm>
            <a:off x="571500" y="2986430"/>
            <a:ext cx="3333902" cy="1028700"/>
          </a:xfrm>
          <a:prstGeom prst="roundRect">
            <a:avLst>
              <a:gd name="adj" fmla="val 9877"/>
            </a:avLst>
          </a:prstGeom>
          <a:solidFill>
            <a:srgbClr val="E0F7FA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27"/>
          <p:cNvSpPr/>
          <p:nvPr/>
        </p:nvSpPr>
        <p:spPr>
          <a:xfrm>
            <a:off x="571500" y="2986430"/>
            <a:ext cx="47549" cy="1028700"/>
          </a:xfrm>
          <a:prstGeom prst="roundRect">
            <a:avLst>
              <a:gd name="adj" fmla="val 213674"/>
            </a:avLst>
          </a:prstGeom>
          <a:solidFill>
            <a:srgbClr val="00ACC1"/>
          </a:solidFill>
          <a:ln w="12700">
            <a:solidFill>
              <a:srgbClr val="00ACC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28"/>
          <p:cNvSpPr txBox="1"/>
          <p:nvPr/>
        </p:nvSpPr>
        <p:spPr>
          <a:xfrm>
            <a:off x="809244" y="3129077"/>
            <a:ext cx="30202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Conversion Strategy</a:t>
            </a:r>
            <a:endParaRPr lang="en-US" sz="900" dirty="0"/>
          </a:p>
        </p:txBody>
      </p:sp>
      <p:sp>
        <p:nvSpPr>
          <p:cNvPr id="41" name="Text 29"/>
          <p:cNvSpPr txBox="1"/>
          <p:nvPr/>
        </p:nvSpPr>
        <p:spPr>
          <a:xfrm>
            <a:off x="809244" y="3338474"/>
            <a:ext cx="3020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15%</a:t>
            </a:r>
            <a:endParaRPr lang="en-US" sz="1800" dirty="0"/>
          </a:p>
        </p:txBody>
      </p:sp>
      <p:sp>
        <p:nvSpPr>
          <p:cNvPr id="42" name="Text 30"/>
          <p:cNvSpPr txBox="1"/>
          <p:nvPr/>
        </p:nvSpPr>
        <p:spPr>
          <a:xfrm>
            <a:off x="809244" y="3681374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Targeted SMS &amp; Front-Desk Campaign</a:t>
            </a:r>
            <a:endParaRPr lang="en-US" sz="900" dirty="0"/>
          </a:p>
        </p:txBody>
      </p:sp>
      <p:sp>
        <p:nvSpPr>
          <p:cNvPr id="43" name="Shape 31"/>
          <p:cNvSpPr/>
          <p:nvPr/>
        </p:nvSpPr>
        <p:spPr>
          <a:xfrm>
            <a:off x="571500" y="4371746"/>
            <a:ext cx="3333902" cy="1028700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32"/>
          <p:cNvSpPr/>
          <p:nvPr/>
        </p:nvSpPr>
        <p:spPr>
          <a:xfrm>
            <a:off x="571500" y="4371746"/>
            <a:ext cx="47549" cy="1028700"/>
          </a:xfrm>
          <a:prstGeom prst="roundRect">
            <a:avLst>
              <a:gd name="adj" fmla="val 213674"/>
            </a:avLst>
          </a:prstGeom>
          <a:solidFill>
            <a:srgbClr val="90A4AE"/>
          </a:solidFill>
          <a:ln w="12700">
            <a:solidFill>
              <a:srgbClr val="90A4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3"/>
          <p:cNvSpPr txBox="1"/>
          <p:nvPr/>
        </p:nvSpPr>
        <p:spPr>
          <a:xfrm>
            <a:off x="809244" y="4515307"/>
            <a:ext cx="30202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New Patient Acquisition</a:t>
            </a:r>
            <a:endParaRPr lang="en-US" sz="900" dirty="0"/>
          </a:p>
        </p:txBody>
      </p:sp>
      <p:sp>
        <p:nvSpPr>
          <p:cNvPr id="46" name="Text 34"/>
          <p:cNvSpPr txBox="1"/>
          <p:nvPr/>
        </p:nvSpPr>
        <p:spPr>
          <a:xfrm>
            <a:off x="809244" y="4724705"/>
            <a:ext cx="3020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1,421</a:t>
            </a:r>
            <a:endParaRPr lang="en-US" sz="1800" dirty="0"/>
          </a:p>
        </p:txBody>
      </p:sp>
      <p:sp>
        <p:nvSpPr>
          <p:cNvPr id="47" name="Text 35"/>
          <p:cNvSpPr txBox="1"/>
          <p:nvPr/>
        </p:nvSpPr>
        <p:spPr>
          <a:xfrm>
            <a:off x="809244" y="5067605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Newly Registered Patients</a:t>
            </a:r>
            <a:endParaRPr lang="en-US" sz="900" dirty="0"/>
          </a:p>
        </p:txBody>
      </p:sp>
      <p:sp>
        <p:nvSpPr>
          <p:cNvPr id="48" name="Shape 36"/>
          <p:cNvSpPr/>
          <p:nvPr/>
        </p:nvSpPr>
        <p:spPr>
          <a:xfrm>
            <a:off x="571500" y="5757977"/>
            <a:ext cx="3333902" cy="1028700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37"/>
          <p:cNvSpPr/>
          <p:nvPr/>
        </p:nvSpPr>
        <p:spPr>
          <a:xfrm>
            <a:off x="571500" y="5757977"/>
            <a:ext cx="47549" cy="1028700"/>
          </a:xfrm>
          <a:prstGeom prst="roundRect">
            <a:avLst>
              <a:gd name="adj" fmla="val 213674"/>
            </a:avLst>
          </a:prstGeom>
          <a:solidFill>
            <a:srgbClr val="90A4AE"/>
          </a:solidFill>
          <a:ln w="12700">
            <a:solidFill>
              <a:srgbClr val="90A4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38"/>
          <p:cNvSpPr txBox="1"/>
          <p:nvPr/>
        </p:nvSpPr>
        <p:spPr>
          <a:xfrm>
            <a:off x="809244" y="5900623"/>
            <a:ext cx="30202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Avg. Value Per Patient</a:t>
            </a:r>
            <a:endParaRPr lang="en-US" sz="900" dirty="0"/>
          </a:p>
        </p:txBody>
      </p:sp>
      <p:sp>
        <p:nvSpPr>
          <p:cNvPr id="51" name="Text 39"/>
          <p:cNvSpPr txBox="1"/>
          <p:nvPr/>
        </p:nvSpPr>
        <p:spPr>
          <a:xfrm>
            <a:off x="809244" y="6110021"/>
            <a:ext cx="3020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$700</a:t>
            </a:r>
            <a:endParaRPr lang="en-US" sz="1800" dirty="0"/>
          </a:p>
        </p:txBody>
      </p:sp>
      <p:sp>
        <p:nvSpPr>
          <p:cNvPr id="52" name="Text 40"/>
          <p:cNvSpPr txBox="1"/>
          <p:nvPr/>
        </p:nvSpPr>
        <p:spPr>
          <a:xfrm>
            <a:off x="809244" y="6452921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$350/visit × 2 visits/year</a:t>
            </a:r>
            <a:endParaRPr lang="en-US" sz="900" dirty="0"/>
          </a:p>
        </p:txBody>
      </p:sp>
      <p:pic>
        <p:nvPicPr>
          <p:cNvPr id="53" name="Image 10" descr="preencoded.png"/>
          <p:cNvPicPr>
            <a:picLocks noChangeAspect="1"/>
          </p:cNvPicPr>
          <p:nvPr/>
        </p:nvPicPr>
        <p:blipFill>
          <a:blip r:embed="rId10"/>
          <a:srcRect t="-11" b="-11"/>
          <a:stretch/>
        </p:blipFill>
        <p:spPr>
          <a:xfrm>
            <a:off x="571500" y="7144207"/>
            <a:ext cx="3500323" cy="1075334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737921" y="7268566"/>
            <a:ext cx="31720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Revenue Generated</a:t>
            </a:r>
            <a:endParaRPr lang="en-US" sz="900" dirty="0"/>
          </a:p>
        </p:txBody>
      </p:sp>
      <p:sp>
        <p:nvSpPr>
          <p:cNvPr id="55" name="Text 42"/>
          <p:cNvSpPr txBox="1"/>
          <p:nvPr/>
        </p:nvSpPr>
        <p:spPr>
          <a:xfrm>
            <a:off x="737921" y="7488022"/>
            <a:ext cx="31720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$994,700</a:t>
            </a:r>
            <a:endParaRPr lang="en-US" sz="1800" dirty="0"/>
          </a:p>
        </p:txBody>
      </p:sp>
      <p:sp>
        <p:nvSpPr>
          <p:cNvPr id="56" name="Text 43"/>
          <p:cNvSpPr txBox="1"/>
          <p:nvPr/>
        </p:nvSpPr>
        <p:spPr>
          <a:xfrm>
            <a:off x="737921" y="7848295"/>
            <a:ext cx="31720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Gross Additional Revenue</a:t>
            </a:r>
            <a:endParaRPr lang="en-US" sz="900" dirty="0"/>
          </a:p>
        </p:txBody>
      </p:sp>
      <p:sp>
        <p:nvSpPr>
          <p:cNvPr id="57" name="Shape 44"/>
          <p:cNvSpPr/>
          <p:nvPr/>
        </p:nvSpPr>
        <p:spPr>
          <a:xfrm>
            <a:off x="0" y="0"/>
            <a:ext cx="12191695" cy="809244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Text 45"/>
          <p:cNvSpPr txBox="1"/>
          <p:nvPr/>
        </p:nvSpPr>
        <p:spPr>
          <a:xfrm>
            <a:off x="571500" y="0"/>
            <a:ext cx="788578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Impact : Revenue Generation</a:t>
            </a:r>
            <a:endParaRPr lang="en-US" sz="2700" dirty="0"/>
          </a:p>
        </p:txBody>
      </p:sp>
      <p:sp>
        <p:nvSpPr>
          <p:cNvPr id="59" name="Text 46"/>
          <p:cNvSpPr txBox="1"/>
          <p:nvPr/>
        </p:nvSpPr>
        <p:spPr>
          <a:xfrm>
            <a:off x="571500" y="552298"/>
            <a:ext cx="69915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DD0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Targeted Patient Conversion Strategy &amp; Financial Outcome</a:t>
            </a:r>
            <a:endParaRPr lang="en-US" sz="1300" dirty="0"/>
          </a:p>
        </p:txBody>
      </p:sp>
      <p:pic>
        <p:nvPicPr>
          <p:cNvPr id="60" name="Image 11" descr="preencoded.png"/>
          <p:cNvPicPr>
            <a:picLocks noChangeAspect="1"/>
          </p:cNvPicPr>
          <p:nvPr/>
        </p:nvPicPr>
        <p:blipFill>
          <a:blip r:embed="rId11">
            <a:alphaModFix amt="80000"/>
          </a:blip>
          <a:srcRect l="-266" r="-266"/>
          <a:stretch/>
        </p:blipFill>
        <p:spPr>
          <a:xfrm>
            <a:off x="9285732" y="261518"/>
            <a:ext cx="323698" cy="286207"/>
          </a:xfrm>
          <a:prstGeom prst="rect">
            <a:avLst/>
          </a:prstGeom>
        </p:spPr>
      </p:pic>
      <p:sp>
        <p:nvSpPr>
          <p:cNvPr id="61" name="Text 47"/>
          <p:cNvSpPr txBox="1"/>
          <p:nvPr/>
        </p:nvSpPr>
        <p:spPr>
          <a:xfrm>
            <a:off x="9686239" y="261518"/>
            <a:ext cx="211043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HEALTHANALYTICS</a:t>
            </a:r>
            <a:endParaRPr lang="en-US" sz="1500" dirty="0"/>
          </a:p>
        </p:txBody>
      </p:sp>
      <p:sp>
        <p:nvSpPr>
          <p:cNvPr id="62" name="Text 48"/>
          <p:cNvSpPr txBox="1"/>
          <p:nvPr/>
        </p:nvSpPr>
        <p:spPr>
          <a:xfrm>
            <a:off x="10490911" y="271577"/>
            <a:ext cx="12097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ANALYTICS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09244"/>
            <a:ext cx="12191695" cy="62865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1500" y="1095451"/>
            <a:ext cx="7181698" cy="5715000"/>
          </a:xfrm>
          <a:prstGeom prst="roundRect">
            <a:avLst>
              <a:gd name="adj" fmla="val 42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00100" y="1338682"/>
            <a:ext cx="327629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Patient Wait Time Distribution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9787" y="1324051"/>
            <a:ext cx="1457554" cy="28620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55994" y="1324051"/>
            <a:ext cx="1171346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628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 Required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84087" y="1410005"/>
            <a:ext cx="114300" cy="11430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t="-32" b="-32"/>
          <a:stretch/>
        </p:blipFill>
        <p:spPr>
          <a:xfrm>
            <a:off x="800100" y="1705356"/>
            <a:ext cx="6724498" cy="453359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613502" y="1895551"/>
            <a:ext cx="1714500" cy="972007"/>
          </a:xfrm>
          <a:prstGeom prst="roundRect">
            <a:avLst>
              <a:gd name="adj" fmla="val 737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F9A9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 txBox="1"/>
          <p:nvPr/>
        </p:nvSpPr>
        <p:spPr>
          <a:xfrm>
            <a:off x="5870448" y="2000707"/>
            <a:ext cx="14292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628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Peak Bottlenecks 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5717743" y="2029054"/>
            <a:ext cx="105156" cy="1143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717743" y="2210105"/>
            <a:ext cx="156545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Mondays &amp; Wednesdays</a:t>
            </a:r>
            <a:r>
              <a:rPr lang="en-US" sz="8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show the highest frequency of &gt;45 min waits due to staffing misalignment. </a:t>
            </a:r>
            <a:endParaRPr lang="en-US" sz="800" dirty="0"/>
          </a:p>
        </p:txBody>
      </p:sp>
      <p:sp>
        <p:nvSpPr>
          <p:cNvPr id="15" name="Text 9"/>
          <p:cNvSpPr txBox="1"/>
          <p:nvPr/>
        </p:nvSpPr>
        <p:spPr>
          <a:xfrm>
            <a:off x="2865730" y="6384341"/>
            <a:ext cx="10771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 (&lt; 20m)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3991356" y="6422746"/>
            <a:ext cx="114300" cy="1143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 txBox="1"/>
          <p:nvPr/>
        </p:nvSpPr>
        <p:spPr>
          <a:xfrm>
            <a:off x="4181551" y="6384341"/>
            <a:ext cx="1739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 Zone (20-60m)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8033004" y="1095451"/>
            <a:ext cx="3590849" cy="1343254"/>
          </a:xfrm>
          <a:prstGeom prst="roundRect">
            <a:avLst>
              <a:gd name="adj" fmla="val 579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8033004" y="1095451"/>
            <a:ext cx="47549" cy="1343254"/>
          </a:xfrm>
          <a:prstGeom prst="roundRect">
            <a:avLst>
              <a:gd name="adj" fmla="val 163665"/>
            </a:avLst>
          </a:prstGeom>
          <a:solidFill>
            <a:srgbClr val="D32F2F"/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 txBox="1"/>
          <p:nvPr/>
        </p:nvSpPr>
        <p:spPr>
          <a:xfrm>
            <a:off x="8270748" y="1285646"/>
            <a:ext cx="3277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Wait Time &gt; 20 Mins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8270748" y="1518818"/>
            <a:ext cx="10387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90.9%</a:t>
            </a:r>
            <a:endParaRPr lang="en-US" sz="24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 t="-842" b="-842"/>
          <a:stretch/>
        </p:blipFill>
        <p:spPr>
          <a:xfrm>
            <a:off x="9306763" y="1604772"/>
            <a:ext cx="190195" cy="17190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270748" y="1900123"/>
            <a:ext cx="3238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Vast majority of patients fall into the "delayed" category. </a:t>
            </a:r>
            <a:r>
              <a:rPr lang="en-US" sz="900" b="1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 Wait: 35 min</a:t>
            </a:r>
            <a:r>
              <a:rPr lang="en-US" sz="900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8033004" y="2627986"/>
            <a:ext cx="3590849" cy="1343254"/>
          </a:xfrm>
          <a:prstGeom prst="roundRect">
            <a:avLst>
              <a:gd name="adj" fmla="val 579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8033004" y="2627986"/>
            <a:ext cx="47549" cy="1343254"/>
          </a:xfrm>
          <a:prstGeom prst="roundRect">
            <a:avLst>
              <a:gd name="adj" fmla="val 163665"/>
            </a:avLst>
          </a:prstGeom>
          <a:solidFill>
            <a:srgbClr val="388E3C"/>
          </a:solidFill>
          <a:ln w="12700">
            <a:solidFill>
              <a:srgbClr val="388E3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 txBox="1"/>
          <p:nvPr/>
        </p:nvSpPr>
        <p:spPr>
          <a:xfrm>
            <a:off x="8270748" y="2818181"/>
            <a:ext cx="3277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Optimal Service (&lt; 20 Mins)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8270748" y="3052267"/>
            <a:ext cx="78364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88E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9.1%</a:t>
            </a:r>
            <a:endParaRPr lang="en-US" sz="24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017813" y="3137306"/>
            <a:ext cx="171907" cy="171907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270748" y="3432658"/>
            <a:ext cx="3238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a small fraction of visitors experience acceptable wait times, highlighting a process failure.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8033004" y="4160520"/>
            <a:ext cx="3590849" cy="2648102"/>
          </a:xfrm>
          <a:prstGeom prst="roundRect">
            <a:avLst>
              <a:gd name="adj" fmla="val 1491"/>
            </a:avLst>
          </a:prstGeom>
          <a:solidFill>
            <a:srgbClr val="2632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8223199" y="4646066"/>
            <a:ext cx="3209544" cy="9144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8223199" y="4375404"/>
            <a:ext cx="190195" cy="152705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509406" y="4350715"/>
            <a:ext cx="1343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Impact</a:t>
            </a:r>
            <a:endParaRPr lang="en-US" sz="1000" dirty="0"/>
          </a:p>
        </p:txBody>
      </p:sp>
      <p:sp>
        <p:nvSpPr>
          <p:cNvPr id="34" name="Text 25"/>
          <p:cNvSpPr txBox="1"/>
          <p:nvPr/>
        </p:nvSpPr>
        <p:spPr>
          <a:xfrm>
            <a:off x="8223199" y="4770425"/>
            <a:ext cx="32863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reveals a strong negative correlation between wait times and satisfaction scores.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8223199" y="5355641"/>
            <a:ext cx="3209544" cy="952805"/>
          </a:xfrm>
          <a:prstGeom prst="roundRect">
            <a:avLst>
              <a:gd name="adj" fmla="val 3839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7"/>
          <p:cNvSpPr txBox="1"/>
          <p:nvPr/>
        </p:nvSpPr>
        <p:spPr>
          <a:xfrm>
            <a:off x="8337499" y="5479999"/>
            <a:ext cx="129296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Wait Time (Avg 35m)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1009376" y="5469941"/>
            <a:ext cx="3913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</a:t>
            </a:r>
            <a:endParaRPr lang="en-US" sz="10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rcRect l="-204" r="-204"/>
          <a:stretch/>
        </p:blipFill>
        <p:spPr>
          <a:xfrm>
            <a:off x="8337499" y="5698541"/>
            <a:ext cx="2978201" cy="75895"/>
          </a:xfrm>
          <a:prstGeom prst="rect">
            <a:avLst/>
          </a:prstGeom>
        </p:spPr>
      </p:pic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rcRect l="-197" r="-197"/>
          <a:stretch/>
        </p:blipFill>
        <p:spPr>
          <a:xfrm>
            <a:off x="8337499" y="5698541"/>
            <a:ext cx="2531059" cy="75895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8337499" y="5898794"/>
            <a:ext cx="11338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Satisfaction (5/10)</a:t>
            </a:r>
            <a:endParaRPr lang="en-US" sz="900" dirty="0"/>
          </a:p>
        </p:txBody>
      </p:sp>
      <p:sp>
        <p:nvSpPr>
          <p:cNvPr id="41" name="Text 30"/>
          <p:cNvSpPr txBox="1"/>
          <p:nvPr/>
        </p:nvSpPr>
        <p:spPr>
          <a:xfrm>
            <a:off x="11043209" y="5889650"/>
            <a:ext cx="352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</a:t>
            </a:r>
            <a:endParaRPr lang="en-US" sz="1000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0"/>
          <a:srcRect l="-204" r="-204"/>
          <a:stretch/>
        </p:blipFill>
        <p:spPr>
          <a:xfrm>
            <a:off x="8337499" y="6118250"/>
            <a:ext cx="2978201" cy="75895"/>
          </a:xfrm>
          <a:prstGeom prst="rect">
            <a:avLst/>
          </a:prstGeom>
        </p:spPr>
      </p:pic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223199" y="6480353"/>
            <a:ext cx="114300" cy="114300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8413394" y="6461150"/>
            <a:ext cx="35762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 of patient churn increases by 40% after 30 min wait.</a:t>
            </a:r>
            <a:endParaRPr lang="en-US" sz="900" dirty="0"/>
          </a:p>
        </p:txBody>
      </p:sp>
      <p:sp>
        <p:nvSpPr>
          <p:cNvPr id="45" name="Shape 32"/>
          <p:cNvSpPr/>
          <p:nvPr/>
        </p:nvSpPr>
        <p:spPr>
          <a:xfrm>
            <a:off x="0" y="0"/>
            <a:ext cx="12191695" cy="809244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33"/>
          <p:cNvSpPr txBox="1"/>
          <p:nvPr/>
        </p:nvSpPr>
        <p:spPr>
          <a:xfrm>
            <a:off x="571500" y="0"/>
            <a:ext cx="580735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 : Wait Time Crisis</a:t>
            </a:r>
            <a:endParaRPr lang="en-US" sz="2700" dirty="0"/>
          </a:p>
        </p:txBody>
      </p:sp>
      <p:sp>
        <p:nvSpPr>
          <p:cNvPr id="47" name="Text 34"/>
          <p:cNvSpPr txBox="1"/>
          <p:nvPr/>
        </p:nvSpPr>
        <p:spPr>
          <a:xfrm>
            <a:off x="571500" y="552298"/>
            <a:ext cx="50520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DD0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Identifying Bottlenecks &amp; Improving Patient Flow</a:t>
            </a:r>
            <a:endParaRPr lang="en-US" sz="1300" dirty="0"/>
          </a:p>
        </p:txBody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13">
            <a:alphaModFix amt="80000"/>
          </a:blip>
          <a:srcRect l="-266" r="-266"/>
          <a:stretch/>
        </p:blipFill>
        <p:spPr>
          <a:xfrm>
            <a:off x="9285732" y="261518"/>
            <a:ext cx="323698" cy="286207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9686239" y="261518"/>
            <a:ext cx="211043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HEALTHANALYTICS</a:t>
            </a:r>
            <a:endParaRPr lang="en-US" sz="1500" dirty="0"/>
          </a:p>
        </p:txBody>
      </p:sp>
      <p:sp>
        <p:nvSpPr>
          <p:cNvPr id="50" name="Text 36"/>
          <p:cNvSpPr txBox="1"/>
          <p:nvPr/>
        </p:nvSpPr>
        <p:spPr>
          <a:xfrm>
            <a:off x="10490911" y="271577"/>
            <a:ext cx="12097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ANALYTICS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09244"/>
            <a:ext cx="12191695" cy="7144207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1500" y="1190549"/>
            <a:ext cx="4000500" cy="2133295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1500" y="1190549"/>
            <a:ext cx="47549" cy="2133295"/>
          </a:xfrm>
          <a:prstGeom prst="roundRect">
            <a:avLst>
              <a:gd name="adj" fmla="val 103022"/>
            </a:avLst>
          </a:prstGeom>
          <a:solidFill>
            <a:srgbClr val="FF7043"/>
          </a:solidFill>
          <a:ln w="12700">
            <a:solidFill>
              <a:srgbClr val="FF70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7649" y="1419149"/>
            <a:ext cx="457200" cy="457200"/>
          </a:xfrm>
          <a:prstGeom prst="ellipse">
            <a:avLst/>
          </a:prstGeom>
          <a:solidFill>
            <a:srgbClr val="FBE9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1151" y="1552651"/>
            <a:ext cx="190195" cy="190195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770" y="1419149"/>
            <a:ext cx="923544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0770" y="1419149"/>
            <a:ext cx="924458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Inefficiency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847649" y="1990649"/>
            <a:ext cx="3610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Staffing Misalignment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47649" y="2295144"/>
            <a:ext cx="357256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Analysis revealed weekend visitor volumes are </a:t>
            </a:r>
            <a:r>
              <a:rPr lang="en-US" sz="1000" b="1" dirty="0">
                <a:solidFill>
                  <a:srgbClr val="2632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60% lower</a:t>
            </a: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than weekdays, yet staffing levels remained constant, leading to significant idle time and unnecessary labor costs. 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71500" y="3514954"/>
            <a:ext cx="4000500" cy="1933956"/>
          </a:xfrm>
          <a:prstGeom prst="roundRect">
            <a:avLst>
              <a:gd name="adj" fmla="val 2795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71500" y="3514954"/>
            <a:ext cx="47549" cy="1933956"/>
          </a:xfrm>
          <a:prstGeom prst="roundRect">
            <a:avLst>
              <a:gd name="adj" fmla="val 113679"/>
            </a:avLst>
          </a:prstGeom>
          <a:solidFill>
            <a:srgbClr val="29B6F6"/>
          </a:solidFill>
          <a:ln w="12700">
            <a:solidFill>
              <a:srgbClr val="29B6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7649" y="3743554"/>
            <a:ext cx="457200" cy="457200"/>
          </a:xfrm>
          <a:prstGeom prst="ellipse">
            <a:avLst/>
          </a:prstGeom>
          <a:solidFill>
            <a:srgbClr val="E1F5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81151" y="3877056"/>
            <a:ext cx="190195" cy="190195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5790" y="3743554"/>
            <a:ext cx="1000354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345790" y="3743554"/>
            <a:ext cx="10003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Optimization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847649" y="4315054"/>
            <a:ext cx="3610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Adjustment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847649" y="4619549"/>
            <a:ext cx="357256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Implemented data-driven scheduling: reduced weekend staffing by </a:t>
            </a:r>
            <a:r>
              <a:rPr lang="en-US" sz="1000" b="1" dirty="0">
                <a:solidFill>
                  <a:srgbClr val="2632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30%</a:t>
            </a: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reallocated resources to peak Monday/Wednesday windows to match demand curves. 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71500" y="5639105"/>
            <a:ext cx="4000500" cy="1933956"/>
          </a:xfrm>
          <a:prstGeom prst="roundRect">
            <a:avLst>
              <a:gd name="adj" fmla="val 2795"/>
            </a:avLst>
          </a:prstGeom>
          <a:solidFill>
            <a:srgbClr val="F1F8E9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571500" y="5639105"/>
            <a:ext cx="47549" cy="1933956"/>
          </a:xfrm>
          <a:prstGeom prst="roundRect">
            <a:avLst>
              <a:gd name="adj" fmla="val 113679"/>
            </a:avLst>
          </a:prstGeom>
          <a:solidFill>
            <a:srgbClr val="66BB6A"/>
          </a:solidFill>
          <a:ln w="12700">
            <a:solidFill>
              <a:srgbClr val="66BB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847649" y="5867705"/>
            <a:ext cx="457200" cy="4572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5867705"/>
            <a:ext cx="733349" cy="228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611880" y="5867705"/>
            <a:ext cx="734263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Outcome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847649" y="6439205"/>
            <a:ext cx="3610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Operational Savings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847649" y="6743700"/>
            <a:ext cx="357256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Achieved a total reduction of </a:t>
            </a:r>
            <a:r>
              <a:rPr lang="en-US" sz="1000" b="1" dirty="0">
                <a:solidFill>
                  <a:srgbClr val="2632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12%</a:t>
            </a: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operational costs without impacting patient wait times or service quality during off-peak hours. 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953305" y="1190549"/>
            <a:ext cx="6667805" cy="6381598"/>
          </a:xfrm>
          <a:prstGeom prst="roundRect">
            <a:avLst>
              <a:gd name="adj" fmla="val 34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 txBox="1"/>
          <p:nvPr/>
        </p:nvSpPr>
        <p:spPr>
          <a:xfrm>
            <a:off x="5238598" y="1554480"/>
            <a:ext cx="413034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Annual Operational Cost Comparison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5238598" y="1878178"/>
            <a:ext cx="38203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Comparing Baseline vs. Optimized Model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9161374" y="1476756"/>
            <a:ext cx="2180844" cy="676656"/>
          </a:xfrm>
          <a:prstGeom prst="roundRect">
            <a:avLst>
              <a:gd name="adj" fmla="val 15226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2E7D32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 txBox="1"/>
          <p:nvPr/>
        </p:nvSpPr>
        <p:spPr>
          <a:xfrm>
            <a:off x="9351569" y="1571854"/>
            <a:ext cx="1457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$412,000</a:t>
            </a:r>
            <a:endParaRPr lang="en-US" sz="1800" dirty="0"/>
          </a:p>
        </p:txBody>
      </p:sp>
      <p:sp>
        <p:nvSpPr>
          <p:cNvPr id="33" name="Text 26"/>
          <p:cNvSpPr txBox="1"/>
          <p:nvPr/>
        </p:nvSpPr>
        <p:spPr>
          <a:xfrm>
            <a:off x="9351569" y="1914754"/>
            <a:ext cx="147309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Annual Savings</a:t>
            </a:r>
            <a:endParaRPr lang="en-US" sz="9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rcRect l="-266" r="-266"/>
          <a:stretch/>
        </p:blipFill>
        <p:spPr>
          <a:xfrm>
            <a:off x="10820095" y="1668780"/>
            <a:ext cx="323698" cy="286207"/>
          </a:xfrm>
          <a:prstGeom prst="rect">
            <a:avLst/>
          </a:prstGeom>
        </p:spPr>
      </p:pic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 t="-114" b="-114"/>
          <a:stretch/>
        </p:blipFill>
        <p:spPr>
          <a:xfrm>
            <a:off x="5238598" y="2337206"/>
            <a:ext cx="6096305" cy="3962095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5238598" y="6486754"/>
            <a:ext cx="1904695" cy="800100"/>
          </a:xfrm>
          <a:prstGeom prst="roundRect">
            <a:avLst>
              <a:gd name="adj" fmla="val 1088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8"/>
          <p:cNvSpPr txBox="1"/>
          <p:nvPr/>
        </p:nvSpPr>
        <p:spPr>
          <a:xfrm>
            <a:off x="5701284" y="6638544"/>
            <a:ext cx="9811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$287,000</a:t>
            </a:r>
            <a:endParaRPr lang="en-US" sz="1500" dirty="0"/>
          </a:p>
        </p:txBody>
      </p:sp>
      <p:sp>
        <p:nvSpPr>
          <p:cNvPr id="38" name="Text 29"/>
          <p:cNvSpPr txBox="1"/>
          <p:nvPr/>
        </p:nvSpPr>
        <p:spPr>
          <a:xfrm>
            <a:off x="5663794" y="6963156"/>
            <a:ext cx="134233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Weekend Labor Savings</a:t>
            </a:r>
            <a:endParaRPr lang="en-US" sz="90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rcRect t="-80" b="-80"/>
          <a:stretch/>
        </p:blipFill>
        <p:spPr>
          <a:xfrm>
            <a:off x="5453482" y="6986930"/>
            <a:ext cx="142646" cy="114300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7334402" y="6486754"/>
            <a:ext cx="1904695" cy="800100"/>
          </a:xfrm>
          <a:prstGeom prst="roundRect">
            <a:avLst>
              <a:gd name="adj" fmla="val 1088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1"/>
          <p:cNvSpPr txBox="1"/>
          <p:nvPr/>
        </p:nvSpPr>
        <p:spPr>
          <a:xfrm>
            <a:off x="7798003" y="6638544"/>
            <a:ext cx="97932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$125,000</a:t>
            </a:r>
            <a:endParaRPr lang="en-US" sz="1500" dirty="0"/>
          </a:p>
        </p:txBody>
      </p:sp>
      <p:sp>
        <p:nvSpPr>
          <p:cNvPr id="42" name="Text 32"/>
          <p:cNvSpPr txBox="1"/>
          <p:nvPr/>
        </p:nvSpPr>
        <p:spPr>
          <a:xfrm>
            <a:off x="7776058" y="6963156"/>
            <a:ext cx="132222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Seasonal Optimization</a:t>
            </a:r>
            <a:endParaRPr lang="en-US" sz="900" dirty="0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7603236" y="6986930"/>
            <a:ext cx="105156" cy="114300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9430207" y="6486754"/>
            <a:ext cx="1904695" cy="800100"/>
          </a:xfrm>
          <a:prstGeom prst="roundRect">
            <a:avLst>
              <a:gd name="adj" fmla="val 1088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4"/>
          <p:cNvSpPr txBox="1"/>
          <p:nvPr/>
        </p:nvSpPr>
        <p:spPr>
          <a:xfrm>
            <a:off x="10166299" y="6638544"/>
            <a:ext cx="438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12%</a:t>
            </a:r>
            <a:endParaRPr lang="en-US" sz="1500" dirty="0"/>
          </a:p>
        </p:txBody>
      </p:sp>
      <p:sp>
        <p:nvSpPr>
          <p:cNvPr id="46" name="Text 35"/>
          <p:cNvSpPr txBox="1"/>
          <p:nvPr/>
        </p:nvSpPr>
        <p:spPr>
          <a:xfrm>
            <a:off x="9753905" y="6963156"/>
            <a:ext cx="125821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Cost Decrease</a:t>
            </a:r>
            <a:endParaRPr lang="en-US" sz="900" dirty="0"/>
          </a:p>
        </p:txBody>
      </p:sp>
      <p:sp>
        <p:nvSpPr>
          <p:cNvPr id="47" name="Shape 36"/>
          <p:cNvSpPr/>
          <p:nvPr/>
        </p:nvSpPr>
        <p:spPr>
          <a:xfrm>
            <a:off x="0" y="0"/>
            <a:ext cx="12191695" cy="809244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37"/>
          <p:cNvSpPr txBox="1"/>
          <p:nvPr/>
        </p:nvSpPr>
        <p:spPr>
          <a:xfrm>
            <a:off x="571500" y="0"/>
            <a:ext cx="705459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Impact : Cost Reduction</a:t>
            </a:r>
            <a:endParaRPr lang="en-US" sz="2700" dirty="0"/>
          </a:p>
        </p:txBody>
      </p:sp>
      <p:sp>
        <p:nvSpPr>
          <p:cNvPr id="49" name="Text 38"/>
          <p:cNvSpPr txBox="1"/>
          <p:nvPr/>
        </p:nvSpPr>
        <p:spPr>
          <a:xfrm>
            <a:off x="571500" y="552298"/>
            <a:ext cx="61722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DD0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Optimizing Resource Allocation Through Demand Analysis</a:t>
            </a:r>
            <a:endParaRPr lang="en-US" sz="1300" dirty="0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2">
            <a:alphaModFix amt="80000"/>
          </a:blip>
          <a:srcRect l="-266" r="-266"/>
          <a:stretch/>
        </p:blipFill>
        <p:spPr>
          <a:xfrm>
            <a:off x="9285732" y="261518"/>
            <a:ext cx="323698" cy="286207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9686239" y="261518"/>
            <a:ext cx="211043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HEALTHANALYTICS</a:t>
            </a:r>
            <a:endParaRPr lang="en-US" sz="1500" dirty="0"/>
          </a:p>
        </p:txBody>
      </p:sp>
      <p:sp>
        <p:nvSpPr>
          <p:cNvPr id="52" name="Text 40"/>
          <p:cNvSpPr txBox="1"/>
          <p:nvPr/>
        </p:nvSpPr>
        <p:spPr>
          <a:xfrm>
            <a:off x="10490911" y="271577"/>
            <a:ext cx="12097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ANALYTICS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09244"/>
            <a:ext cx="12191695" cy="1214414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1500" y="1190549"/>
            <a:ext cx="11182198" cy="11382451"/>
          </a:xfrm>
          <a:prstGeom prst="roundRect">
            <a:avLst>
              <a:gd name="adj" fmla="val 1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998110" y="1476756"/>
            <a:ext cx="24277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Patient Referral Breakdown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49" b="-49"/>
          <a:stretch/>
        </p:blipFill>
        <p:spPr>
          <a:xfrm>
            <a:off x="857707" y="1819656"/>
            <a:ext cx="10610698" cy="100968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00446" y="6512357"/>
            <a:ext cx="15334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58.7%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418734" y="7017106"/>
            <a:ext cx="1495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Non-Referred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834994" y="12136831"/>
            <a:ext cx="114300" cy="114300"/>
          </a:xfrm>
          <a:prstGeom prst="roundRect">
            <a:avLst>
              <a:gd name="adj" fmla="val 200000"/>
            </a:avLst>
          </a:prstGeom>
          <a:solidFill>
            <a:srgbClr val="FF704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025189" y="12101170"/>
            <a:ext cx="18708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Non-Referred (Bottleneck)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35117" y="12136831"/>
            <a:ext cx="114300" cy="114300"/>
          </a:xfrm>
          <a:prstGeom prst="roundRect">
            <a:avLst>
              <a:gd name="adj" fmla="val 200000"/>
            </a:avLst>
          </a:prstGeom>
          <a:solidFill>
            <a:srgbClr val="26A6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926226" y="12101170"/>
            <a:ext cx="1270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GP &amp; Orthopedics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126834" y="12136831"/>
            <a:ext cx="114300" cy="114300"/>
          </a:xfrm>
          <a:prstGeom prst="roundRect">
            <a:avLst>
              <a:gd name="adj" fmla="val 200000"/>
            </a:avLst>
          </a:prstGeom>
          <a:solidFill>
            <a:srgbClr val="90A4A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7317029" y="12101170"/>
            <a:ext cx="13523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Other Departments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2230100" y="1190549"/>
            <a:ext cx="1809598" cy="3866998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2230100" y="1190549"/>
            <a:ext cx="57607" cy="3866998"/>
          </a:xfrm>
          <a:prstGeom prst="roundRect">
            <a:avLst>
              <a:gd name="adj" fmla="val 100251"/>
            </a:avLst>
          </a:prstGeom>
          <a:solidFill>
            <a:srgbClr val="FF7043"/>
          </a:solidFill>
          <a:ln w="12700">
            <a:solidFill>
              <a:srgbClr val="FF70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12516307" y="1419149"/>
            <a:ext cx="11722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55A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Triage Bottleneck Detected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3630046" y="1591056"/>
            <a:ext cx="181051" cy="342900"/>
          </a:xfrm>
          <a:prstGeom prst="roundRect">
            <a:avLst>
              <a:gd name="adj" fmla="val 212653"/>
            </a:avLst>
          </a:prstGeom>
          <a:solidFill>
            <a:srgbClr val="FBE9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640105" y="1686154"/>
            <a:ext cx="152705" cy="15270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2516307" y="2219249"/>
            <a:ext cx="1353312" cy="2610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7474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58.67% of Arrivals</a:t>
            </a: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majority of patients arrive without a specific department referral. These "walk-ins" require extensive initial triage, creating queues that ripple through the entire facility. 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12230100" y="5286146"/>
            <a:ext cx="1809598" cy="3438144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12230100" y="5286146"/>
            <a:ext cx="57607" cy="3438144"/>
          </a:xfrm>
          <a:prstGeom prst="roundRect">
            <a:avLst>
              <a:gd name="adj" fmla="val 100251"/>
            </a:avLst>
          </a:prstGeom>
          <a:solidFill>
            <a:srgbClr val="26A69A"/>
          </a:solidFill>
          <a:ln w="12700">
            <a:solidFill>
              <a:srgbClr val="26A69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12516307" y="5514746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55A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 Care Volume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13586155" y="5572354"/>
            <a:ext cx="219456" cy="342900"/>
          </a:xfrm>
          <a:prstGeom prst="roundRect">
            <a:avLst>
              <a:gd name="adj" fmla="val 144928"/>
            </a:avLst>
          </a:prstGeom>
          <a:solidFill>
            <a:srgbClr val="E0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13628218" y="5667451"/>
            <a:ext cx="133502" cy="152705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2516307" y="6086246"/>
            <a:ext cx="1353312" cy="2410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7474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30.75% GP &amp; Orthopedics</a:t>
            </a: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General Practice and Orthopedics drive nearly one-third of traffic. These departments have predictable flows, unlike the volatile non-referred segment. 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12230100" y="8953805"/>
            <a:ext cx="1809598" cy="3619195"/>
          </a:xfrm>
          <a:prstGeom prst="roundRect">
            <a:avLst>
              <a:gd name="adj" fmla="val 3191"/>
            </a:avLst>
          </a:prstGeom>
          <a:solidFill>
            <a:srgbClr val="E8EAF6"/>
          </a:solidFill>
          <a:ln w="254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12477902" y="9339682"/>
            <a:ext cx="114300" cy="152705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2687300" y="9201607"/>
            <a:ext cx="11622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8359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Operational Opportunity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12477902" y="9724644"/>
            <a:ext cx="1371600" cy="260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949A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Streamline Intake:</a:t>
            </a:r>
            <a:r>
              <a:rPr lang="en-US" sz="1000" dirty="0">
                <a:solidFill>
                  <a:srgbClr val="3949A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Implementing a "Fast-Track" kiosk or dedicated pre-triage zone for non-referred patients can decouple them from the main queue. This targeted intervention is projected to reduce overall wait times by ~30%. 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0" y="0"/>
            <a:ext cx="12191695" cy="809244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571500" y="0"/>
            <a:ext cx="746973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 3: Departmental Performance</a:t>
            </a:r>
            <a:endParaRPr lang="en-US" sz="2700" dirty="0"/>
          </a:p>
        </p:txBody>
      </p:sp>
      <p:sp>
        <p:nvSpPr>
          <p:cNvPr id="34" name="Text 28"/>
          <p:cNvSpPr txBox="1"/>
          <p:nvPr/>
        </p:nvSpPr>
        <p:spPr>
          <a:xfrm>
            <a:off x="571500" y="552298"/>
            <a:ext cx="66586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DD0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Referral Distribution Analysis &amp; Workflow Bottlenecks</a:t>
            </a:r>
            <a:endParaRPr lang="en-US" sz="13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>
            <a:alphaModFix amt="80000"/>
          </a:blip>
          <a:srcRect l="-266" r="-266"/>
          <a:stretch/>
        </p:blipFill>
        <p:spPr>
          <a:xfrm>
            <a:off x="9285732" y="261518"/>
            <a:ext cx="323698" cy="286207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9686239" y="261518"/>
            <a:ext cx="211043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HEALTHANALYTICS</a:t>
            </a:r>
            <a:endParaRPr lang="en-US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10490911" y="271577"/>
            <a:ext cx="12097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ANALYTICS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1500" y="1333195"/>
            <a:ext cx="1104869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1500" y="1333195"/>
            <a:ext cx="57607" cy="1218895"/>
          </a:xfrm>
          <a:prstGeom prst="roundRect">
            <a:avLst>
              <a:gd name="adj" fmla="val 99207"/>
            </a:avLst>
          </a:prstGeom>
          <a:solidFill>
            <a:srgbClr val="00ACC1"/>
          </a:solidFill>
          <a:ln w="12700">
            <a:solidFill>
              <a:srgbClr val="00ACC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1028700" y="1695298"/>
            <a:ext cx="171907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5783" y="1561795"/>
            <a:ext cx="8572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Intervention: Fast-Track Triage System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465783" y="1867205"/>
            <a:ext cx="85350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Implemented a streamlined intake process for non-referred patients (58% of volume) to decouple simple cases from complex workflows.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861804" y="1676095"/>
            <a:ext cx="14767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Implementation Period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842602" y="1981505"/>
            <a:ext cx="1495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Q3 2020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1500" y="2933395"/>
            <a:ext cx="3495751" cy="3543300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>
            <a:alphaModFix amt="5000"/>
          </a:blip>
          <a:srcRect l="-11" r="-11"/>
          <a:stretch/>
        </p:blipFill>
        <p:spPr>
          <a:xfrm>
            <a:off x="3254350" y="4953305"/>
            <a:ext cx="1000354" cy="1143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71500" y="3771900"/>
            <a:ext cx="3495751" cy="9144"/>
          </a:xfrm>
          <a:prstGeom prst="roundRect">
            <a:avLst>
              <a:gd name="adj" fmla="val 1797753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00100" y="3124505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57377" y="3258007"/>
            <a:ext cx="142646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99946" y="3238805"/>
            <a:ext cx="1848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455A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Wait Time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800100" y="4307738"/>
            <a:ext cx="8769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0A4A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Baseline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800100" y="4527194"/>
            <a:ext cx="8823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0A4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 min</a:t>
            </a:r>
            <a:endParaRPr lang="en-US" sz="18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1885493" y="4545482"/>
            <a:ext cx="200254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303374" y="4178808"/>
            <a:ext cx="15343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0A4A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Current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2232050" y="4398264"/>
            <a:ext cx="1605686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100" b="1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 min</a:t>
            </a:r>
            <a:endParaRPr lang="en-US" sz="3100" dirty="0"/>
          </a:p>
        </p:txBody>
      </p:sp>
      <p:sp>
        <p:nvSpPr>
          <p:cNvPr id="23" name="Shape 17"/>
          <p:cNvSpPr/>
          <p:nvPr/>
        </p:nvSpPr>
        <p:spPr>
          <a:xfrm>
            <a:off x="800100" y="5188306"/>
            <a:ext cx="1447495" cy="409651"/>
          </a:xfrm>
          <a:prstGeom prst="roundRect">
            <a:avLst>
              <a:gd name="adj" fmla="val 155731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 l="-1773" r="-1773"/>
          <a:stretch/>
        </p:blipFill>
        <p:spPr>
          <a:xfrm>
            <a:off x="952805" y="5308092"/>
            <a:ext cx="133502" cy="171907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162202" y="5188306"/>
            <a:ext cx="9912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31% Faster</a:t>
            </a:r>
            <a:endParaRPr lang="en-US" sz="13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995721"/>
            <a:ext cx="3495751" cy="48554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93953" y="5995721"/>
            <a:ext cx="3073298" cy="48646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1F5F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Exceeds target of 20% reduction</a:t>
            </a:r>
            <a:endParaRPr lang="en-US" sz="9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00100" y="6173114"/>
            <a:ext cx="123444" cy="123444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4349801" y="2933395"/>
            <a:ext cx="3495751" cy="3543300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>
            <a:alphaModFix amt="5000"/>
          </a:blip>
          <a:srcRect/>
          <a:stretch/>
        </p:blipFill>
        <p:spPr>
          <a:xfrm>
            <a:off x="6890004" y="4953305"/>
            <a:ext cx="1143000" cy="1143000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4349801" y="3771900"/>
            <a:ext cx="3495751" cy="9144"/>
          </a:xfrm>
          <a:prstGeom prst="roundRect">
            <a:avLst>
              <a:gd name="adj" fmla="val 1797753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2"/>
          <p:cNvSpPr/>
          <p:nvPr/>
        </p:nvSpPr>
        <p:spPr>
          <a:xfrm>
            <a:off x="4578401" y="3124505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0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11"/>
          <a:srcRect l="-1282" r="-1282"/>
          <a:stretch/>
        </p:blipFill>
        <p:spPr>
          <a:xfrm>
            <a:off x="4697273" y="3258007"/>
            <a:ext cx="219456" cy="190195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5178247" y="3238805"/>
            <a:ext cx="2061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455A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Patient Satisfaction</a:t>
            </a:r>
            <a:endParaRPr lang="en-US" sz="1200" dirty="0"/>
          </a:p>
        </p:txBody>
      </p:sp>
      <p:sp>
        <p:nvSpPr>
          <p:cNvPr id="35" name="Text 24"/>
          <p:cNvSpPr txBox="1"/>
          <p:nvPr/>
        </p:nvSpPr>
        <p:spPr>
          <a:xfrm>
            <a:off x="4578401" y="4307738"/>
            <a:ext cx="6099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0A4A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Baseline</a:t>
            </a:r>
            <a:endParaRPr lang="en-US" sz="900" dirty="0"/>
          </a:p>
        </p:txBody>
      </p:sp>
      <p:sp>
        <p:nvSpPr>
          <p:cNvPr id="36" name="Text 25"/>
          <p:cNvSpPr txBox="1"/>
          <p:nvPr/>
        </p:nvSpPr>
        <p:spPr>
          <a:xfrm>
            <a:off x="4578401" y="4527194"/>
            <a:ext cx="6099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0A4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5.0</a:t>
            </a:r>
            <a:endParaRPr lang="en-US" sz="180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5935370" y="4545482"/>
            <a:ext cx="200254" cy="228600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6889090" y="4178808"/>
            <a:ext cx="7342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0A4A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Current</a:t>
            </a:r>
            <a:endParaRPr lang="en-US" sz="900" dirty="0"/>
          </a:p>
        </p:txBody>
      </p:sp>
      <p:sp>
        <p:nvSpPr>
          <p:cNvPr id="39" name="Text 27"/>
          <p:cNvSpPr txBox="1"/>
          <p:nvPr/>
        </p:nvSpPr>
        <p:spPr>
          <a:xfrm>
            <a:off x="6825996" y="4398264"/>
            <a:ext cx="797357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100" b="1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6.8</a:t>
            </a:r>
            <a:endParaRPr lang="en-US" sz="3100" dirty="0"/>
          </a:p>
        </p:txBody>
      </p:sp>
      <p:sp>
        <p:nvSpPr>
          <p:cNvPr id="40" name="Shape 28"/>
          <p:cNvSpPr/>
          <p:nvPr/>
        </p:nvSpPr>
        <p:spPr>
          <a:xfrm>
            <a:off x="4578401" y="5188306"/>
            <a:ext cx="2152498" cy="409651"/>
          </a:xfrm>
          <a:prstGeom prst="roundRect">
            <a:avLst>
              <a:gd name="adj" fmla="val 155731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12"/>
          <a:srcRect l="-1773" r="-1773"/>
          <a:stretch/>
        </p:blipFill>
        <p:spPr>
          <a:xfrm>
            <a:off x="4731106" y="5308092"/>
            <a:ext cx="133502" cy="171907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4940503" y="5188306"/>
            <a:ext cx="170444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36% Improvement</a:t>
            </a:r>
            <a:endParaRPr lang="en-US" sz="1300" dirty="0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9801" y="5995721"/>
            <a:ext cx="3495751" cy="485546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4772254" y="5995721"/>
            <a:ext cx="3073298" cy="48646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1F5F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Strongest correlation with wait time</a:t>
            </a:r>
            <a:endParaRPr lang="en-US" sz="900" dirty="0"/>
          </a:p>
        </p:txBody>
      </p:sp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578401" y="6173114"/>
            <a:ext cx="123444" cy="123444"/>
          </a:xfrm>
          <a:prstGeom prst="rect">
            <a:avLst/>
          </a:prstGeom>
        </p:spPr>
      </p:pic>
      <p:sp>
        <p:nvSpPr>
          <p:cNvPr id="46" name="Shape 31"/>
          <p:cNvSpPr/>
          <p:nvPr/>
        </p:nvSpPr>
        <p:spPr>
          <a:xfrm>
            <a:off x="8128102" y="2933395"/>
            <a:ext cx="3495751" cy="3543300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7" name="Image 13" descr="preencoded.png"/>
          <p:cNvPicPr>
            <a:picLocks noChangeAspect="1"/>
          </p:cNvPicPr>
          <p:nvPr/>
        </p:nvPicPr>
        <p:blipFill>
          <a:blip r:embed="rId14">
            <a:alphaModFix amt="5000"/>
          </a:blip>
          <a:srcRect l="-16" r="-16"/>
          <a:stretch/>
        </p:blipFill>
        <p:spPr>
          <a:xfrm>
            <a:off x="10382098" y="4953305"/>
            <a:ext cx="1429207" cy="1143000"/>
          </a:xfrm>
          <a:prstGeom prst="rect">
            <a:avLst/>
          </a:prstGeom>
        </p:spPr>
      </p:pic>
      <p:sp>
        <p:nvSpPr>
          <p:cNvPr id="48" name="Shape 32"/>
          <p:cNvSpPr/>
          <p:nvPr/>
        </p:nvSpPr>
        <p:spPr>
          <a:xfrm>
            <a:off x="8128102" y="3771900"/>
            <a:ext cx="3495751" cy="9144"/>
          </a:xfrm>
          <a:prstGeom prst="roundRect">
            <a:avLst>
              <a:gd name="adj" fmla="val 1797753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33"/>
          <p:cNvSpPr/>
          <p:nvPr/>
        </p:nvSpPr>
        <p:spPr>
          <a:xfrm>
            <a:off x="8356702" y="3124505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3E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466430" y="3258007"/>
            <a:ext cx="237744" cy="190195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8956548" y="3238805"/>
            <a:ext cx="20308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455A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Patient Throughput</a:t>
            </a:r>
            <a:endParaRPr lang="en-US" sz="1200" dirty="0"/>
          </a:p>
        </p:txBody>
      </p:sp>
      <p:sp>
        <p:nvSpPr>
          <p:cNvPr id="52" name="Text 35"/>
          <p:cNvSpPr txBox="1"/>
          <p:nvPr/>
        </p:nvSpPr>
        <p:spPr>
          <a:xfrm>
            <a:off x="8356702" y="4307738"/>
            <a:ext cx="6766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0A4A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Baseline</a:t>
            </a:r>
            <a:endParaRPr lang="en-US" sz="900" dirty="0"/>
          </a:p>
        </p:txBody>
      </p:sp>
      <p:sp>
        <p:nvSpPr>
          <p:cNvPr id="53" name="Text 36"/>
          <p:cNvSpPr txBox="1"/>
          <p:nvPr/>
        </p:nvSpPr>
        <p:spPr>
          <a:xfrm>
            <a:off x="8356702" y="4527194"/>
            <a:ext cx="6766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0A4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</a:t>
            </a:r>
            <a:endParaRPr lang="en-US" sz="1800" dirty="0"/>
          </a:p>
        </p:txBody>
      </p:sp>
      <p:pic>
        <p:nvPicPr>
          <p:cNvPr id="54" name="Image 15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9596628" y="4545482"/>
            <a:ext cx="200254" cy="228600"/>
          </a:xfrm>
          <a:prstGeom prst="rect">
            <a:avLst/>
          </a:prstGeom>
        </p:spPr>
      </p:pic>
      <p:sp>
        <p:nvSpPr>
          <p:cNvPr id="55" name="Text 37"/>
          <p:cNvSpPr txBox="1"/>
          <p:nvPr/>
        </p:nvSpPr>
        <p:spPr>
          <a:xfrm>
            <a:off x="10369296" y="4178808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0A4A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Efficiency</a:t>
            </a:r>
            <a:endParaRPr lang="en-US" sz="900" dirty="0"/>
          </a:p>
        </p:txBody>
      </p:sp>
      <p:sp>
        <p:nvSpPr>
          <p:cNvPr id="56" name="Text 38"/>
          <p:cNvSpPr txBox="1"/>
          <p:nvPr/>
        </p:nvSpPr>
        <p:spPr>
          <a:xfrm>
            <a:off x="10329977" y="4398264"/>
            <a:ext cx="106893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100" b="1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118%</a:t>
            </a:r>
            <a:endParaRPr lang="en-US" sz="3100" dirty="0"/>
          </a:p>
        </p:txBody>
      </p:sp>
      <p:sp>
        <p:nvSpPr>
          <p:cNvPr id="57" name="Shape 39"/>
          <p:cNvSpPr/>
          <p:nvPr/>
        </p:nvSpPr>
        <p:spPr>
          <a:xfrm>
            <a:off x="8356702" y="5188306"/>
            <a:ext cx="1657807" cy="409651"/>
          </a:xfrm>
          <a:prstGeom prst="roundRect">
            <a:avLst>
              <a:gd name="adj" fmla="val 155731"/>
            </a:avLst>
          </a:prstGeom>
          <a:solidFill>
            <a:srgbClr val="F3E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8" name="Image 16" descr="preencoded.png"/>
          <p:cNvPicPr>
            <a:picLocks noChangeAspect="1"/>
          </p:cNvPicPr>
          <p:nvPr/>
        </p:nvPicPr>
        <p:blipFill>
          <a:blip r:embed="rId16"/>
          <a:srcRect l="-1773" r="-1773"/>
          <a:stretch/>
        </p:blipFill>
        <p:spPr>
          <a:xfrm>
            <a:off x="8509406" y="5308092"/>
            <a:ext cx="133502" cy="171907"/>
          </a:xfrm>
          <a:prstGeom prst="rect">
            <a:avLst/>
          </a:prstGeom>
        </p:spPr>
      </p:pic>
      <p:sp>
        <p:nvSpPr>
          <p:cNvPr id="59" name="Text 40"/>
          <p:cNvSpPr txBox="1"/>
          <p:nvPr/>
        </p:nvSpPr>
        <p:spPr>
          <a:xfrm>
            <a:off x="8718804" y="5188306"/>
            <a:ext cx="12006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B1FA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18% Increase</a:t>
            </a:r>
            <a:endParaRPr lang="en-US" sz="1300" dirty="0"/>
          </a:p>
        </p:txBody>
      </p:sp>
      <p:pic>
        <p:nvPicPr>
          <p:cNvPr id="60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8102" y="5995721"/>
            <a:ext cx="3495751" cy="485546"/>
          </a:xfrm>
          <a:prstGeom prst="rect">
            <a:avLst/>
          </a:prstGeom>
        </p:spPr>
      </p:pic>
      <p:sp>
        <p:nvSpPr>
          <p:cNvPr id="61" name="Text 41"/>
          <p:cNvSpPr/>
          <p:nvPr/>
        </p:nvSpPr>
        <p:spPr>
          <a:xfrm>
            <a:off x="8578901" y="5995721"/>
            <a:ext cx="3044952" cy="48646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1F5F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Achieved with zero staff addition</a:t>
            </a:r>
            <a:endParaRPr lang="en-US" sz="900" dirty="0"/>
          </a:p>
        </p:txBody>
      </p:sp>
      <p:pic>
        <p:nvPicPr>
          <p:cNvPr id="62" name="Image 18" descr="preencoded.png"/>
          <p:cNvPicPr>
            <a:picLocks noChangeAspect="1"/>
          </p:cNvPicPr>
          <p:nvPr/>
        </p:nvPicPr>
        <p:blipFill>
          <a:blip r:embed="rId17"/>
          <a:srcRect t="-524" b="-524"/>
          <a:stretch/>
        </p:blipFill>
        <p:spPr>
          <a:xfrm>
            <a:off x="8356702" y="6173114"/>
            <a:ext cx="152705" cy="123444"/>
          </a:xfrm>
          <a:prstGeom prst="rect">
            <a:avLst/>
          </a:prstGeom>
        </p:spPr>
      </p:pic>
      <p:sp>
        <p:nvSpPr>
          <p:cNvPr id="63" name="Shape 4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Text 43"/>
          <p:cNvSpPr txBox="1"/>
          <p:nvPr/>
        </p:nvSpPr>
        <p:spPr>
          <a:xfrm>
            <a:off x="571500" y="71323"/>
            <a:ext cx="871697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Impact 3: Operational Efficiency</a:t>
            </a:r>
            <a:endParaRPr lang="en-US" sz="2700" dirty="0"/>
          </a:p>
        </p:txBody>
      </p:sp>
      <p:sp>
        <p:nvSpPr>
          <p:cNvPr id="65" name="Text 44"/>
          <p:cNvSpPr txBox="1"/>
          <p:nvPr/>
        </p:nvSpPr>
        <p:spPr>
          <a:xfrm>
            <a:off x="571500" y="623621"/>
            <a:ext cx="73636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DD0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Outcomes of Fast-Track Triage Implementation</a:t>
            </a:r>
            <a:endParaRPr lang="en-US" sz="1300" dirty="0"/>
          </a:p>
        </p:txBody>
      </p:sp>
      <p:pic>
        <p:nvPicPr>
          <p:cNvPr id="66" name="Image 19" descr="preencoded.png"/>
          <p:cNvPicPr>
            <a:picLocks noChangeAspect="1"/>
          </p:cNvPicPr>
          <p:nvPr/>
        </p:nvPicPr>
        <p:blipFill>
          <a:blip r:embed="rId18">
            <a:alphaModFix amt="80000"/>
          </a:blip>
          <a:srcRect l="-266" r="-266"/>
          <a:stretch/>
        </p:blipFill>
        <p:spPr>
          <a:xfrm>
            <a:off x="9285732" y="333756"/>
            <a:ext cx="323698" cy="286207"/>
          </a:xfrm>
          <a:prstGeom prst="rect">
            <a:avLst/>
          </a:prstGeom>
        </p:spPr>
      </p:pic>
      <p:sp>
        <p:nvSpPr>
          <p:cNvPr id="67" name="Text 45"/>
          <p:cNvSpPr txBox="1"/>
          <p:nvPr/>
        </p:nvSpPr>
        <p:spPr>
          <a:xfrm>
            <a:off x="9686239" y="333756"/>
            <a:ext cx="211043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HEALTHANALYTICS</a:t>
            </a:r>
            <a:endParaRPr lang="en-US" sz="1500" dirty="0"/>
          </a:p>
        </p:txBody>
      </p:sp>
      <p:sp>
        <p:nvSpPr>
          <p:cNvPr id="68" name="Text 46"/>
          <p:cNvSpPr txBox="1"/>
          <p:nvPr/>
        </p:nvSpPr>
        <p:spPr>
          <a:xfrm>
            <a:off x="10490911" y="342900"/>
            <a:ext cx="12097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ANALYTICS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09244"/>
            <a:ext cx="12191695" cy="1025865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1500" y="1095451"/>
            <a:ext cx="6314846" cy="4724705"/>
          </a:xfrm>
          <a:prstGeom prst="roundRect">
            <a:avLst>
              <a:gd name="adj" fmla="val 6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1695" y="1819656"/>
            <a:ext cx="5934456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1695" y="1285646"/>
            <a:ext cx="476402" cy="437998"/>
          </a:xfrm>
          <a:prstGeom prst="roundRect">
            <a:avLst>
              <a:gd name="adj" fmla="val 36307"/>
            </a:avLst>
          </a:prstGeom>
          <a:solidFill>
            <a:srgbClr val="E1F5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333195" y="1285646"/>
            <a:ext cx="19321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 Group Distribution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296" y="1388059"/>
            <a:ext cx="895198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797296" y="1388059"/>
            <a:ext cx="8961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65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Even Spread</a:t>
            </a:r>
            <a:endParaRPr lang="en-US" sz="8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76" r="-76"/>
          <a:stretch/>
        </p:blipFill>
        <p:spPr>
          <a:xfrm>
            <a:off x="761695" y="1971446"/>
            <a:ext cx="5934456" cy="302940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1695" y="5095951"/>
            <a:ext cx="5934456" cy="533095"/>
          </a:xfrm>
          <a:prstGeom prst="roundRect">
            <a:avLst>
              <a:gd name="adj" fmla="val 24504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61695" y="5095951"/>
            <a:ext cx="38405" cy="533095"/>
          </a:xfrm>
          <a:prstGeom prst="roundRect">
            <a:avLst>
              <a:gd name="adj" fmla="val 340134"/>
            </a:avLst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895198" y="5191049"/>
            <a:ext cx="57817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Consistent volume across 0-75 age range (~24% per segment). </a:t>
            </a:r>
            <a:r>
              <a:rPr lang="en-US" sz="900" b="1" dirty="0">
                <a:solidFill>
                  <a:srgbClr val="2632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Sharp drop-off (5.04%) in 75+ category</a:t>
            </a: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suggests specialized geriatric care is not a primary volume driver.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7115861" y="1095451"/>
            <a:ext cx="4505249" cy="4724705"/>
          </a:xfrm>
          <a:prstGeom prst="roundRect">
            <a:avLst>
              <a:gd name="adj" fmla="val 68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306056" y="1819656"/>
            <a:ext cx="412394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306056" y="1285646"/>
            <a:ext cx="476402" cy="437998"/>
          </a:xfrm>
          <a:prstGeom prst="roundRect">
            <a:avLst>
              <a:gd name="adj" fmla="val 36307"/>
            </a:avLst>
          </a:prstGeom>
          <a:solidFill>
            <a:srgbClr val="E1F5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7877556" y="1285646"/>
            <a:ext cx="17145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Gender Composition</a:t>
            </a:r>
            <a:endParaRPr lang="en-US" sz="1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5405" y="1388059"/>
            <a:ext cx="1104595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325405" y="1388059"/>
            <a:ext cx="11055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9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 Dominant</a:t>
            </a:r>
            <a:endParaRPr lang="en-US" sz="8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l="-167" r="-167"/>
          <a:stretch/>
        </p:blipFill>
        <p:spPr>
          <a:xfrm>
            <a:off x="7306056" y="1971446"/>
            <a:ext cx="2752344" cy="28575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311896" y="3152851"/>
            <a:ext cx="7434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+4.86%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311896" y="3419856"/>
            <a:ext cx="743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0207447" y="2905049"/>
            <a:ext cx="1305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0207447" y="3057754"/>
            <a:ext cx="13057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52.4%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10207447" y="3476549"/>
            <a:ext cx="1305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Female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10207447" y="3629254"/>
            <a:ext cx="13057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47.6%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7306056" y="4924044"/>
            <a:ext cx="4123944" cy="705002"/>
          </a:xfrm>
          <a:prstGeom prst="roundRect">
            <a:avLst>
              <a:gd name="adj" fmla="val 14022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7306056" y="4924044"/>
            <a:ext cx="38405" cy="705002"/>
          </a:xfrm>
          <a:prstGeom prst="roundRect">
            <a:avLst>
              <a:gd name="adj" fmla="val 257399"/>
            </a:avLst>
          </a:prstGeom>
          <a:solidFill>
            <a:srgbClr val="00897B"/>
          </a:solidFill>
          <a:ln w="12700">
            <a:solidFill>
              <a:srgbClr val="00897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 txBox="1"/>
          <p:nvPr/>
        </p:nvSpPr>
        <p:spPr>
          <a:xfrm>
            <a:off x="7439558" y="5020056"/>
            <a:ext cx="397215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Slight male majority suggests opportunity for men's health targeted campaigns. </a:t>
            </a:r>
            <a:r>
              <a:rPr lang="en-US" sz="900" b="1" dirty="0">
                <a:solidFill>
                  <a:srgbClr val="2632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"Not Specified" is negligible (0.26%)</a:t>
            </a: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indicating high data quality.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571500" y="6057900"/>
            <a:ext cx="6314846" cy="4724705"/>
          </a:xfrm>
          <a:prstGeom prst="roundRect">
            <a:avLst>
              <a:gd name="adj" fmla="val 6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761695" y="6782105"/>
            <a:ext cx="5934456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61695" y="6248095"/>
            <a:ext cx="418795" cy="437998"/>
          </a:xfrm>
          <a:prstGeom prst="roundRect">
            <a:avLst>
              <a:gd name="adj" fmla="val 39698"/>
            </a:avLst>
          </a:prstGeom>
          <a:solidFill>
            <a:srgbClr val="E1F5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 txBox="1"/>
          <p:nvPr/>
        </p:nvSpPr>
        <p:spPr>
          <a:xfrm>
            <a:off x="1276502" y="6248095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Seasonal Volume Trends</a:t>
            </a:r>
            <a:endParaRPr lang="en-US" sz="12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8269" y="6350508"/>
            <a:ext cx="886054" cy="23774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808269" y="6350508"/>
            <a:ext cx="886054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8431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Q2-Q3 Surge</a:t>
            </a:r>
            <a:endParaRPr lang="en-US" sz="800" dirty="0"/>
          </a:p>
        </p:txBody>
      </p:sp>
      <p:sp>
        <p:nvSpPr>
          <p:cNvPr id="37" name="Shape 30"/>
          <p:cNvSpPr/>
          <p:nvPr/>
        </p:nvSpPr>
        <p:spPr>
          <a:xfrm>
            <a:off x="2835554" y="7029907"/>
            <a:ext cx="1781251" cy="2648102"/>
          </a:xfrm>
          <a:prstGeom prst="rect">
            <a:avLst/>
          </a:prstGeom>
          <a:solidFill>
            <a:srgbClr val="FFEB3B">
              <a:alpha val="10000"/>
            </a:srgbClr>
          </a:solidFill>
          <a:ln w="25400">
            <a:solidFill>
              <a:srgbClr val="FDD8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4330" y="7077456"/>
            <a:ext cx="1266444" cy="181051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3094330" y="7077456"/>
            <a:ext cx="1267358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7F1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Capacity Required</a:t>
            </a:r>
            <a:endParaRPr lang="en-US" sz="800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rcRect l="-76" r="-76"/>
          <a:stretch/>
        </p:blipFill>
        <p:spPr>
          <a:xfrm>
            <a:off x="761695" y="6933895"/>
            <a:ext cx="5934456" cy="3029407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761695" y="10058400"/>
            <a:ext cx="5934456" cy="533095"/>
          </a:xfrm>
          <a:prstGeom prst="roundRect">
            <a:avLst>
              <a:gd name="adj" fmla="val 24504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3"/>
          <p:cNvSpPr/>
          <p:nvPr/>
        </p:nvSpPr>
        <p:spPr>
          <a:xfrm>
            <a:off x="761695" y="10058400"/>
            <a:ext cx="38405" cy="533095"/>
          </a:xfrm>
          <a:prstGeom prst="roundRect">
            <a:avLst>
              <a:gd name="adj" fmla="val 340134"/>
            </a:avLst>
          </a:prstGeom>
          <a:solidFill>
            <a:srgbClr val="FB8C00"/>
          </a:solidFill>
          <a:ln w="12700">
            <a:solidFill>
              <a:srgbClr val="FB8C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4"/>
          <p:cNvSpPr txBox="1"/>
          <p:nvPr/>
        </p:nvSpPr>
        <p:spPr>
          <a:xfrm>
            <a:off x="895198" y="10153498"/>
            <a:ext cx="57817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Significant volume spike in mid-year months. </a:t>
            </a:r>
            <a:r>
              <a:rPr lang="en-US" sz="900" b="1" dirty="0">
                <a:solidFill>
                  <a:srgbClr val="2632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Strategy: Increase staffing by 25% during Q2-Q3</a:t>
            </a: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prevent bottlenecks and wait time degradation.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7115861" y="6057900"/>
            <a:ext cx="4505249" cy="4724705"/>
          </a:xfrm>
          <a:prstGeom prst="roundRect">
            <a:avLst>
              <a:gd name="adj" fmla="val 68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36"/>
          <p:cNvSpPr/>
          <p:nvPr/>
        </p:nvSpPr>
        <p:spPr>
          <a:xfrm>
            <a:off x="7306056" y="6782105"/>
            <a:ext cx="412394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7"/>
          <p:cNvSpPr/>
          <p:nvPr/>
        </p:nvSpPr>
        <p:spPr>
          <a:xfrm>
            <a:off x="7306056" y="6248095"/>
            <a:ext cx="437998" cy="437998"/>
          </a:xfrm>
          <a:prstGeom prst="roundRect">
            <a:avLst>
              <a:gd name="adj" fmla="val 36307"/>
            </a:avLst>
          </a:prstGeom>
          <a:solidFill>
            <a:srgbClr val="E1F5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8"/>
          <p:cNvSpPr txBox="1"/>
          <p:nvPr/>
        </p:nvSpPr>
        <p:spPr>
          <a:xfrm>
            <a:off x="7840066" y="6248095"/>
            <a:ext cx="13149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 vs PM Visits</a:t>
            </a:r>
            <a:endParaRPr lang="en-US" sz="1200" dirty="0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57409" y="6350508"/>
            <a:ext cx="1076249" cy="237744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10357409" y="6350508"/>
            <a:ext cx="1077163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B1FA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Balanced Load</a:t>
            </a:r>
            <a:endParaRPr lang="en-US" sz="800" dirty="0"/>
          </a:p>
        </p:txBody>
      </p:sp>
      <p:sp>
        <p:nvSpPr>
          <p:cNvPr id="50" name="Text 40"/>
          <p:cNvSpPr txBox="1"/>
          <p:nvPr/>
        </p:nvSpPr>
        <p:spPr>
          <a:xfrm>
            <a:off x="7458761" y="8029346"/>
            <a:ext cx="1028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 (Morning)</a:t>
            </a:r>
            <a:endParaRPr lang="en-US" sz="1000" dirty="0"/>
          </a:p>
        </p:txBody>
      </p:sp>
      <p:sp>
        <p:nvSpPr>
          <p:cNvPr id="51" name="Text 41"/>
          <p:cNvSpPr txBox="1"/>
          <p:nvPr/>
        </p:nvSpPr>
        <p:spPr>
          <a:xfrm>
            <a:off x="10261397" y="8029346"/>
            <a:ext cx="11987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PM (Afternoon)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7458761" y="8296351"/>
            <a:ext cx="3819449" cy="304495"/>
          </a:xfrm>
          <a:prstGeom prst="roundRect">
            <a:avLst>
              <a:gd name="adj" fmla="val 30030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3"/>
          <p:cNvSpPr txBox="1"/>
          <p:nvPr/>
        </p:nvSpPr>
        <p:spPr>
          <a:xfrm>
            <a:off x="7420356" y="8296351"/>
            <a:ext cx="2000707" cy="305410"/>
          </a:xfrm>
          <a:prstGeom prst="rect">
            <a:avLst/>
          </a:prstGeom>
          <a:solidFill>
            <a:srgbClr val="3B82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50.3%</a:t>
            </a:r>
            <a:endParaRPr lang="en-US" sz="900" dirty="0"/>
          </a:p>
        </p:txBody>
      </p:sp>
      <p:sp>
        <p:nvSpPr>
          <p:cNvPr id="54" name="Text 44"/>
          <p:cNvSpPr txBox="1"/>
          <p:nvPr/>
        </p:nvSpPr>
        <p:spPr>
          <a:xfrm>
            <a:off x="9341510" y="8296351"/>
            <a:ext cx="1981505" cy="305410"/>
          </a:xfrm>
          <a:prstGeom prst="rect">
            <a:avLst/>
          </a:prstGeom>
          <a:solidFill>
            <a:srgbClr val="8B5C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49.7%</a:t>
            </a:r>
            <a:endParaRPr lang="en-US" sz="900" dirty="0"/>
          </a:p>
        </p:txBody>
      </p:sp>
      <p:sp>
        <p:nvSpPr>
          <p:cNvPr id="55" name="Text 45"/>
          <p:cNvSpPr txBox="1"/>
          <p:nvPr/>
        </p:nvSpPr>
        <p:spPr>
          <a:xfrm>
            <a:off x="7402068" y="8715146"/>
            <a:ext cx="3934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Difference: </a:t>
            </a:r>
            <a:r>
              <a:rPr lang="en-US" sz="9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+0.6%</a:t>
            </a: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AM </a:t>
            </a:r>
            <a:endParaRPr lang="en-US" sz="900" dirty="0"/>
          </a:p>
        </p:txBody>
      </p:sp>
      <p:sp>
        <p:nvSpPr>
          <p:cNvPr id="56" name="Text 46"/>
          <p:cNvSpPr txBox="1"/>
          <p:nvPr/>
        </p:nvSpPr>
        <p:spPr>
          <a:xfrm>
            <a:off x="9276588" y="8706002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+0.6%</a:t>
            </a:r>
            <a:endParaRPr lang="en-US" sz="900" dirty="0"/>
          </a:p>
        </p:txBody>
      </p:sp>
      <p:sp>
        <p:nvSpPr>
          <p:cNvPr id="57" name="Shape 47"/>
          <p:cNvSpPr/>
          <p:nvPr/>
        </p:nvSpPr>
        <p:spPr>
          <a:xfrm>
            <a:off x="7306056" y="10058400"/>
            <a:ext cx="4123944" cy="533095"/>
          </a:xfrm>
          <a:prstGeom prst="roundRect">
            <a:avLst>
              <a:gd name="adj" fmla="val 24504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48"/>
          <p:cNvSpPr/>
          <p:nvPr/>
        </p:nvSpPr>
        <p:spPr>
          <a:xfrm>
            <a:off x="7306056" y="10058400"/>
            <a:ext cx="38405" cy="533095"/>
          </a:xfrm>
          <a:prstGeom prst="roundRect">
            <a:avLst>
              <a:gd name="adj" fmla="val 340134"/>
            </a:avLst>
          </a:prstGeom>
          <a:solidFill>
            <a:srgbClr val="8E24AA"/>
          </a:solidFill>
          <a:ln w="12700">
            <a:solidFill>
              <a:srgbClr val="8E24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49"/>
          <p:cNvSpPr txBox="1"/>
          <p:nvPr/>
        </p:nvSpPr>
        <p:spPr>
          <a:xfrm>
            <a:off x="7439558" y="10153498"/>
            <a:ext cx="39721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Demand is remarkably stable throughout the operational day. </a:t>
            </a:r>
            <a:r>
              <a:rPr lang="en-US" sz="900" b="1" dirty="0">
                <a:solidFill>
                  <a:srgbClr val="2632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need for split-shift staffing</a:t>
            </a: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; consistent full-day coverage is most efficient.</a:t>
            </a:r>
            <a:endParaRPr lang="en-US" sz="900" dirty="0"/>
          </a:p>
        </p:txBody>
      </p:sp>
      <p:pic>
        <p:nvPicPr>
          <p:cNvPr id="60" name="Image 8" descr="preencoded.png"/>
          <p:cNvPicPr>
            <a:picLocks noChangeAspect="1"/>
          </p:cNvPicPr>
          <p:nvPr/>
        </p:nvPicPr>
        <p:blipFill>
          <a:blip r:embed="rId11"/>
          <a:srcRect l="-450" r="-450"/>
          <a:stretch/>
        </p:blipFill>
        <p:spPr>
          <a:xfrm>
            <a:off x="9368028" y="8296351"/>
            <a:ext cx="19202" cy="304495"/>
          </a:xfrm>
          <a:prstGeom prst="rect">
            <a:avLst/>
          </a:prstGeom>
        </p:spPr>
      </p:pic>
      <p:sp>
        <p:nvSpPr>
          <p:cNvPr id="61" name="Shape 50"/>
          <p:cNvSpPr/>
          <p:nvPr/>
        </p:nvSpPr>
        <p:spPr>
          <a:xfrm>
            <a:off x="0" y="0"/>
            <a:ext cx="12191695" cy="809244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Text 51"/>
          <p:cNvSpPr txBox="1"/>
          <p:nvPr/>
        </p:nvSpPr>
        <p:spPr>
          <a:xfrm>
            <a:off x="571500" y="0"/>
            <a:ext cx="954816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 4: Demographic &amp; Peak Demand Analysis</a:t>
            </a:r>
            <a:endParaRPr lang="en-US" sz="2700" dirty="0"/>
          </a:p>
        </p:txBody>
      </p:sp>
      <p:sp>
        <p:nvSpPr>
          <p:cNvPr id="63" name="Text 52"/>
          <p:cNvSpPr txBox="1"/>
          <p:nvPr/>
        </p:nvSpPr>
        <p:spPr>
          <a:xfrm>
            <a:off x="571500" y="552298"/>
            <a:ext cx="87060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DD0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Understanding Patient Segments to Optimize Capacity</a:t>
            </a:r>
            <a:endParaRPr lang="en-US" sz="1300" dirty="0"/>
          </a:p>
        </p:txBody>
      </p:sp>
      <p:pic>
        <p:nvPicPr>
          <p:cNvPr id="64" name="Image 9" descr="preencoded.png"/>
          <p:cNvPicPr>
            <a:picLocks noChangeAspect="1"/>
          </p:cNvPicPr>
          <p:nvPr/>
        </p:nvPicPr>
        <p:blipFill>
          <a:blip r:embed="rId12">
            <a:alphaModFix amt="80000"/>
          </a:blip>
          <a:srcRect l="-266" r="-266"/>
          <a:stretch/>
        </p:blipFill>
        <p:spPr>
          <a:xfrm>
            <a:off x="9285732" y="261518"/>
            <a:ext cx="323698" cy="286207"/>
          </a:xfrm>
          <a:prstGeom prst="rect">
            <a:avLst/>
          </a:prstGeom>
        </p:spPr>
      </p:pic>
      <p:sp>
        <p:nvSpPr>
          <p:cNvPr id="65" name="Text 53"/>
          <p:cNvSpPr txBox="1"/>
          <p:nvPr/>
        </p:nvSpPr>
        <p:spPr>
          <a:xfrm>
            <a:off x="9686239" y="261518"/>
            <a:ext cx="211043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HEALTHANALYTICS</a:t>
            </a:r>
            <a:endParaRPr lang="en-US" sz="1500" dirty="0"/>
          </a:p>
        </p:txBody>
      </p:sp>
      <p:sp>
        <p:nvSpPr>
          <p:cNvPr id="66" name="Text 54"/>
          <p:cNvSpPr txBox="1"/>
          <p:nvPr/>
        </p:nvSpPr>
        <p:spPr>
          <a:xfrm>
            <a:off x="10490911" y="271577"/>
            <a:ext cx="12097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ANALYTICS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65022"/>
            <a:ext cx="12191695" cy="6001207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1500" y="1150315"/>
            <a:ext cx="8076895" cy="5429707"/>
          </a:xfrm>
          <a:prstGeom prst="roundRect">
            <a:avLst>
              <a:gd name="adj" fmla="val 4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61695" y="1341425"/>
            <a:ext cx="372892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Visitor Demand Heatmap (2019-2020)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96712" y="1412748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E1F5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868619" y="1384402"/>
            <a:ext cx="7818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 Demand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714439" y="1412748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0288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886346" y="1384402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Moderate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550201" y="1412748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C628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721194" y="1384402"/>
            <a:ext cx="8842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Peak Capacity</a:t>
            </a:r>
            <a:endParaRPr lang="en-US" sz="9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t="-97" b="-97"/>
          <a:stretch/>
        </p:blipFill>
        <p:spPr>
          <a:xfrm>
            <a:off x="761695" y="1741018"/>
            <a:ext cx="7696505" cy="464789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934602" y="1150315"/>
            <a:ext cx="2686507" cy="2562149"/>
          </a:xfrm>
          <a:prstGeom prst="roundRect">
            <a:avLst>
              <a:gd name="adj" fmla="val 212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934602" y="1150315"/>
            <a:ext cx="2686507" cy="47549"/>
          </a:xfrm>
          <a:prstGeom prst="roundRect">
            <a:avLst>
              <a:gd name="adj" fmla="val 114383"/>
            </a:avLst>
          </a:prstGeom>
          <a:solidFill>
            <a:srgbClr val="00ACC1"/>
          </a:solidFill>
          <a:ln w="12700">
            <a:solidFill>
              <a:srgbClr val="00ACC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9391802" y="1427378"/>
            <a:ext cx="20894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83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Optimized Strategy </a:t>
            </a:r>
            <a:endParaRPr lang="en-US" sz="12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9163202" y="1464869"/>
            <a:ext cx="133502" cy="15270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9163202" y="179862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E0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837" r="-837"/>
          <a:stretch/>
        </p:blipFill>
        <p:spPr>
          <a:xfrm>
            <a:off x="9239098" y="1884578"/>
            <a:ext cx="152705" cy="1335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581998" y="1798625"/>
            <a:ext cx="1886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74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Peak Season (Q2-Q3)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9581998" y="2017166"/>
            <a:ext cx="188275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Increased active staffing by </a:t>
            </a:r>
            <a:r>
              <a:rPr lang="en-US" sz="900" b="1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25%</a:t>
            </a: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manage 53.9% volume surge, preventing bottlenecking.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9163202" y="2640787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E0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249156" y="2725826"/>
            <a:ext cx="133502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581998" y="2640787"/>
            <a:ext cx="1886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74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Off-Peak (Q1 &amp; Q4)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9581998" y="2859329"/>
            <a:ext cx="188275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Implemented "Lean Team" model with cross-training focus to maintain readiness at lower cost.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8934602" y="3901745"/>
            <a:ext cx="2686507" cy="1248156"/>
          </a:xfrm>
          <a:prstGeom prst="roundRect">
            <a:avLst>
              <a:gd name="adj" fmla="val 8948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8934602" y="3901745"/>
            <a:ext cx="47549" cy="1248156"/>
          </a:xfrm>
          <a:prstGeom prst="roundRect">
            <a:avLst>
              <a:gd name="adj" fmla="val 234879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1248949" y="4044391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172346" y="4048963"/>
            <a:ext cx="23481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Protected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9172346" y="4268419"/>
            <a:ext cx="23481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7D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$380,000</a:t>
            </a:r>
            <a:endParaRPr lang="en-US" sz="2400" dirty="0"/>
          </a:p>
        </p:txBody>
      </p:sp>
      <p:sp>
        <p:nvSpPr>
          <p:cNvPr id="31" name="Text 24"/>
          <p:cNvSpPr txBox="1"/>
          <p:nvPr/>
        </p:nvSpPr>
        <p:spPr>
          <a:xfrm>
            <a:off x="9172346" y="4650638"/>
            <a:ext cx="23344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0A4A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Prevented patient turn-aways during surges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8934602" y="5331866"/>
            <a:ext cx="2686507" cy="1248156"/>
          </a:xfrm>
          <a:prstGeom prst="roundRect">
            <a:avLst>
              <a:gd name="adj" fmla="val 8948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8934602" y="5331866"/>
            <a:ext cx="47549" cy="1248156"/>
          </a:xfrm>
          <a:prstGeom prst="roundRect">
            <a:avLst>
              <a:gd name="adj" fmla="val 234879"/>
            </a:avLst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>
            <a:alphaModFix amt="20000"/>
          </a:blip>
          <a:srcRect l="-80" r="-80"/>
          <a:stretch/>
        </p:blipFill>
        <p:spPr>
          <a:xfrm>
            <a:off x="11192256" y="5474513"/>
            <a:ext cx="286207" cy="2286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172346" y="5565038"/>
            <a:ext cx="23481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Resource Efficiency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9172346" y="5784494"/>
            <a:ext cx="23481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65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+22%</a:t>
            </a:r>
            <a:endParaRPr lang="en-US" sz="2400" dirty="0"/>
          </a:p>
        </p:txBody>
      </p:sp>
      <p:sp>
        <p:nvSpPr>
          <p:cNvPr id="37" name="Text 29"/>
          <p:cNvSpPr txBox="1"/>
          <p:nvPr/>
        </p:nvSpPr>
        <p:spPr>
          <a:xfrm>
            <a:off x="9172346" y="6167628"/>
            <a:ext cx="26279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A4A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Improvement in staff utilization rate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0" y="0"/>
            <a:ext cx="12191695" cy="866851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 txBox="1"/>
          <p:nvPr/>
        </p:nvSpPr>
        <p:spPr>
          <a:xfrm>
            <a:off x="571500" y="27432"/>
            <a:ext cx="975573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Impact 4: Strategic Capacity Planning</a:t>
            </a:r>
            <a:endParaRPr lang="en-US" sz="2700" dirty="0"/>
          </a:p>
        </p:txBody>
      </p:sp>
      <p:sp>
        <p:nvSpPr>
          <p:cNvPr id="40" name="Text 32"/>
          <p:cNvSpPr txBox="1"/>
          <p:nvPr/>
        </p:nvSpPr>
        <p:spPr>
          <a:xfrm>
            <a:off x="571500" y="579730"/>
            <a:ext cx="8382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DD0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Aligning Workforce Distribution with Seasonal Demand</a:t>
            </a:r>
            <a:endParaRPr lang="en-US" sz="1300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>
            <a:alphaModFix amt="80000"/>
          </a:blip>
          <a:srcRect l="-266" r="-266"/>
          <a:stretch/>
        </p:blipFill>
        <p:spPr>
          <a:xfrm>
            <a:off x="9285732" y="289865"/>
            <a:ext cx="323698" cy="286207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9686239" y="289865"/>
            <a:ext cx="211043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HEALTHANALYTICS</a:t>
            </a:r>
            <a:endParaRPr lang="en-US" sz="1500" dirty="0"/>
          </a:p>
        </p:txBody>
      </p:sp>
      <p:sp>
        <p:nvSpPr>
          <p:cNvPr id="43" name="Text 34"/>
          <p:cNvSpPr txBox="1"/>
          <p:nvPr/>
        </p:nvSpPr>
        <p:spPr>
          <a:xfrm>
            <a:off x="10490911" y="299009"/>
            <a:ext cx="12097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ANALYTICS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0" y="952805"/>
            <a:ext cx="12191695" cy="59051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83457" y="6291072"/>
            <a:ext cx="4429354" cy="381305"/>
          </a:xfrm>
          <a:prstGeom prst="roundRect">
            <a:avLst>
              <a:gd name="adj" fmla="val 17985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4168750" y="6417259"/>
            <a:ext cx="105156" cy="1234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349801" y="6386170"/>
            <a:ext cx="782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/ Excel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t="-1359" b="-1359"/>
          <a:stretch/>
        </p:blipFill>
        <p:spPr>
          <a:xfrm>
            <a:off x="5286146" y="6417259"/>
            <a:ext cx="105156" cy="1234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467198" y="6386170"/>
            <a:ext cx="63550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BI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524" b="-524"/>
          <a:stretch/>
        </p:blipFill>
        <p:spPr>
          <a:xfrm>
            <a:off x="6281928" y="6417259"/>
            <a:ext cx="152705" cy="12344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510528" y="6386170"/>
            <a:ext cx="3337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DAX</a:t>
            </a:r>
            <a:endParaRPr lang="en-US" sz="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46366" y="6417259"/>
            <a:ext cx="123444" cy="123444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7245706" y="6386170"/>
            <a:ext cx="87599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Query</a:t>
            </a:r>
            <a:endParaRPr lang="en-US" sz="9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238598" y="3165653"/>
            <a:ext cx="1714500" cy="1714500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rcRect t="-24" b="-24"/>
          <a:stretch/>
        </p:blipFill>
        <p:spPr>
          <a:xfrm>
            <a:off x="5857646" y="3497580"/>
            <a:ext cx="476402" cy="381305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5522062" y="3954780"/>
            <a:ext cx="11530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0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</a:t>
            </a:r>
            <a:endParaRPr lang="en-US" sz="1200" dirty="0"/>
          </a:p>
        </p:txBody>
      </p:sp>
      <p:sp>
        <p:nvSpPr>
          <p:cNvPr id="18" name="Text 9"/>
          <p:cNvSpPr txBox="1"/>
          <p:nvPr/>
        </p:nvSpPr>
        <p:spPr>
          <a:xfrm>
            <a:off x="5522062" y="4137660"/>
            <a:ext cx="11530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0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19" name="Text 10"/>
          <p:cNvSpPr txBox="1"/>
          <p:nvPr/>
        </p:nvSpPr>
        <p:spPr>
          <a:xfrm>
            <a:off x="5572354" y="4396435"/>
            <a:ext cx="10543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Iterative Process</a:t>
            </a:r>
            <a:endParaRPr lang="en-US" sz="900" dirty="0"/>
          </a:p>
        </p:txBody>
      </p:sp>
      <p:sp>
        <p:nvSpPr>
          <p:cNvPr id="20" name="Shape 1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2"/>
          <p:cNvSpPr txBox="1"/>
          <p:nvPr/>
        </p:nvSpPr>
        <p:spPr>
          <a:xfrm>
            <a:off x="571500" y="71323"/>
            <a:ext cx="643097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Data-Driven Decision Framework</a:t>
            </a:r>
            <a:endParaRPr lang="en-US" sz="2700" dirty="0"/>
          </a:p>
        </p:txBody>
      </p:sp>
      <p:sp>
        <p:nvSpPr>
          <p:cNvPr id="22" name="Text 13"/>
          <p:cNvSpPr txBox="1"/>
          <p:nvPr/>
        </p:nvSpPr>
        <p:spPr>
          <a:xfrm>
            <a:off x="571500" y="623621"/>
            <a:ext cx="5934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DD0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 Improvement Cycle for Healthcare Operations</a:t>
            </a:r>
            <a:endParaRPr lang="en-US" sz="13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0">
            <a:alphaModFix amt="80000"/>
          </a:blip>
          <a:srcRect l="-266" r="-266"/>
          <a:stretch/>
        </p:blipFill>
        <p:spPr>
          <a:xfrm>
            <a:off x="9285732" y="333756"/>
            <a:ext cx="323698" cy="286207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9686239" y="333756"/>
            <a:ext cx="211043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HEALTHANALYTICS</a:t>
            </a:r>
            <a:endParaRPr lang="en-US" sz="1500" dirty="0"/>
          </a:p>
        </p:txBody>
      </p:sp>
      <p:sp>
        <p:nvSpPr>
          <p:cNvPr id="25" name="Text 15"/>
          <p:cNvSpPr txBox="1"/>
          <p:nvPr/>
        </p:nvSpPr>
        <p:spPr>
          <a:xfrm>
            <a:off x="10490911" y="342900"/>
            <a:ext cx="12097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26" name="Shape 16"/>
          <p:cNvSpPr/>
          <p:nvPr/>
        </p:nvSpPr>
        <p:spPr>
          <a:xfrm>
            <a:off x="4953305" y="1719986"/>
            <a:ext cx="2286000" cy="1514246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17"/>
          <p:cNvSpPr/>
          <p:nvPr/>
        </p:nvSpPr>
        <p:spPr>
          <a:xfrm>
            <a:off x="4953305" y="1719986"/>
            <a:ext cx="2286000" cy="38405"/>
          </a:xfrm>
          <a:prstGeom prst="roundRect">
            <a:avLst>
              <a:gd name="adj" fmla="val 179694"/>
            </a:avLst>
          </a:prstGeom>
          <a:solidFill>
            <a:srgbClr val="546E7A"/>
          </a:solidFill>
          <a:ln w="12700">
            <a:solidFill>
              <a:srgbClr val="546E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57646" y="1529791"/>
            <a:ext cx="476402" cy="476402"/>
          </a:xfrm>
          <a:prstGeom prst="rect">
            <a:avLst/>
          </a:prstGeom>
        </p:spPr>
      </p:pic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2"/>
          <a:srcRect l="-1282" r="-1282"/>
          <a:stretch/>
        </p:blipFill>
        <p:spPr>
          <a:xfrm>
            <a:off x="5986577" y="1672438"/>
            <a:ext cx="219456" cy="190195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5805526" y="2101291"/>
            <a:ext cx="581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</a:t>
            </a:r>
            <a:endParaRPr lang="en-US" sz="1200" dirty="0"/>
          </a:p>
        </p:txBody>
      </p:sp>
      <p:sp>
        <p:nvSpPr>
          <p:cNvPr id="31" name="Text 19"/>
          <p:cNvSpPr txBox="1"/>
          <p:nvPr/>
        </p:nvSpPr>
        <p:spPr>
          <a:xfrm>
            <a:off x="5067605" y="2386584"/>
            <a:ext cx="2057400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Construct robust ETL pipelines, normalized data models (Star Schema), and define baseline KPIs using Power Query &amp; DAX.</a:t>
            </a:r>
            <a:endParaRPr lang="en-US" sz="900" dirty="0"/>
          </a:p>
        </p:txBody>
      </p:sp>
      <p:sp>
        <p:nvSpPr>
          <p:cNvPr id="32" name="Text 20"/>
          <p:cNvSpPr txBox="1"/>
          <p:nvPr/>
        </p:nvSpPr>
        <p:spPr>
          <a:xfrm>
            <a:off x="6858000" y="1853489"/>
            <a:ext cx="3246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800" dirty="0"/>
          </a:p>
        </p:txBody>
      </p:sp>
      <p:sp>
        <p:nvSpPr>
          <p:cNvPr id="33" name="Shape 21"/>
          <p:cNvSpPr/>
          <p:nvPr/>
        </p:nvSpPr>
        <p:spPr>
          <a:xfrm>
            <a:off x="7619695" y="2386584"/>
            <a:ext cx="2286000" cy="1514246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2"/>
          <p:cNvSpPr/>
          <p:nvPr/>
        </p:nvSpPr>
        <p:spPr>
          <a:xfrm>
            <a:off x="7619695" y="2386584"/>
            <a:ext cx="2286000" cy="38405"/>
          </a:xfrm>
          <a:prstGeom prst="roundRect">
            <a:avLst>
              <a:gd name="adj" fmla="val 179694"/>
            </a:avLst>
          </a:prstGeom>
          <a:solidFill>
            <a:srgbClr val="00897B"/>
          </a:solidFill>
          <a:ln w="12700">
            <a:solidFill>
              <a:srgbClr val="00897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524951" y="2196389"/>
            <a:ext cx="476402" cy="476402"/>
          </a:xfrm>
          <a:prstGeom prst="rect">
            <a:avLst/>
          </a:prstGeom>
        </p:spPr>
      </p:pic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67598" y="2339035"/>
            <a:ext cx="190195" cy="190195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8326526" y="2767889"/>
            <a:ext cx="876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</a:t>
            </a:r>
            <a:endParaRPr lang="en-US" sz="1200" dirty="0"/>
          </a:p>
        </p:txBody>
      </p:sp>
      <p:sp>
        <p:nvSpPr>
          <p:cNvPr id="38" name="Text 24"/>
          <p:cNvSpPr txBox="1"/>
          <p:nvPr/>
        </p:nvSpPr>
        <p:spPr>
          <a:xfrm>
            <a:off x="7733995" y="3054096"/>
            <a:ext cx="2057400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 interactive dashboards to track real-time performance, patient flow throughput, and service level agreements (SLAs).</a:t>
            </a:r>
            <a:endParaRPr lang="en-US" sz="900" dirty="0"/>
          </a:p>
        </p:txBody>
      </p:sp>
      <p:sp>
        <p:nvSpPr>
          <p:cNvPr id="39" name="Text 25"/>
          <p:cNvSpPr txBox="1"/>
          <p:nvPr/>
        </p:nvSpPr>
        <p:spPr>
          <a:xfrm>
            <a:off x="9480499" y="2520086"/>
            <a:ext cx="3721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800" dirty="0"/>
          </a:p>
        </p:txBody>
      </p:sp>
      <p:sp>
        <p:nvSpPr>
          <p:cNvPr id="40" name="Shape 26"/>
          <p:cNvSpPr/>
          <p:nvPr/>
        </p:nvSpPr>
        <p:spPr>
          <a:xfrm>
            <a:off x="7239305" y="4681728"/>
            <a:ext cx="2286000" cy="1695298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27"/>
          <p:cNvSpPr/>
          <p:nvPr/>
        </p:nvSpPr>
        <p:spPr>
          <a:xfrm>
            <a:off x="7239305" y="4681728"/>
            <a:ext cx="2286000" cy="38405"/>
          </a:xfrm>
          <a:prstGeom prst="roundRect">
            <a:avLst>
              <a:gd name="adj" fmla="val 160513"/>
            </a:avLst>
          </a:prstGeom>
          <a:solidFill>
            <a:srgbClr val="3949AB"/>
          </a:solidFill>
          <a:ln w="12700">
            <a:solidFill>
              <a:srgbClr val="3949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143646" y="4490618"/>
            <a:ext cx="476402" cy="476402"/>
          </a:xfrm>
          <a:prstGeom prst="rect">
            <a:avLst/>
          </a:prstGeom>
        </p:spPr>
      </p:pic>
      <p:pic>
        <p:nvPicPr>
          <p:cNvPr id="43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287207" y="4634179"/>
            <a:ext cx="190195" cy="190195"/>
          </a:xfrm>
          <a:prstGeom prst="rect">
            <a:avLst/>
          </a:prstGeom>
        </p:spPr>
      </p:pic>
      <p:sp>
        <p:nvSpPr>
          <p:cNvPr id="44" name="Text 28"/>
          <p:cNvSpPr txBox="1"/>
          <p:nvPr/>
        </p:nvSpPr>
        <p:spPr>
          <a:xfrm>
            <a:off x="7970825" y="5062118"/>
            <a:ext cx="829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Analyze</a:t>
            </a:r>
            <a:endParaRPr lang="en-US" sz="1200" dirty="0"/>
          </a:p>
        </p:txBody>
      </p:sp>
      <p:sp>
        <p:nvSpPr>
          <p:cNvPr id="45" name="Text 29"/>
          <p:cNvSpPr txBox="1"/>
          <p:nvPr/>
        </p:nvSpPr>
        <p:spPr>
          <a:xfrm>
            <a:off x="7353605" y="5348326"/>
            <a:ext cx="20574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root causes of bottlenecks (e.g., non-referred volume), seasonal demand surges, and correlation between wait times &amp; satisfaction.</a:t>
            </a:r>
            <a:endParaRPr lang="en-US" sz="900" dirty="0"/>
          </a:p>
        </p:txBody>
      </p:sp>
      <p:sp>
        <p:nvSpPr>
          <p:cNvPr id="46" name="Text 30"/>
          <p:cNvSpPr txBox="1"/>
          <p:nvPr/>
        </p:nvSpPr>
        <p:spPr>
          <a:xfrm>
            <a:off x="9099194" y="4815230"/>
            <a:ext cx="3721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800" dirty="0"/>
          </a:p>
        </p:txBody>
      </p:sp>
      <p:sp>
        <p:nvSpPr>
          <p:cNvPr id="47" name="Shape 31"/>
          <p:cNvSpPr/>
          <p:nvPr/>
        </p:nvSpPr>
        <p:spPr>
          <a:xfrm>
            <a:off x="2667305" y="4681728"/>
            <a:ext cx="2286000" cy="1695298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32"/>
          <p:cNvSpPr/>
          <p:nvPr/>
        </p:nvSpPr>
        <p:spPr>
          <a:xfrm>
            <a:off x="2667305" y="4681728"/>
            <a:ext cx="2286000" cy="38405"/>
          </a:xfrm>
          <a:prstGeom prst="roundRect">
            <a:avLst>
              <a:gd name="adj" fmla="val 160513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3571646" y="4490618"/>
            <a:ext cx="476402" cy="476402"/>
          </a:xfrm>
          <a:prstGeom prst="rect">
            <a:avLst/>
          </a:prstGeom>
        </p:spPr>
      </p:pic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3715207" y="4634179"/>
            <a:ext cx="190195" cy="190195"/>
          </a:xfrm>
          <a:prstGeom prst="rect">
            <a:avLst/>
          </a:prstGeom>
        </p:spPr>
      </p:pic>
      <p:sp>
        <p:nvSpPr>
          <p:cNvPr id="51" name="Text 33"/>
          <p:cNvSpPr txBox="1"/>
          <p:nvPr/>
        </p:nvSpPr>
        <p:spPr>
          <a:xfrm>
            <a:off x="3612794" y="5062118"/>
            <a:ext cx="400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</a:t>
            </a:r>
            <a:endParaRPr lang="en-US" sz="1200" dirty="0"/>
          </a:p>
        </p:txBody>
      </p:sp>
      <p:sp>
        <p:nvSpPr>
          <p:cNvPr id="52" name="Text 34"/>
          <p:cNvSpPr txBox="1"/>
          <p:nvPr/>
        </p:nvSpPr>
        <p:spPr>
          <a:xfrm>
            <a:off x="2781605" y="5348326"/>
            <a:ext cx="20574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strategic interventions: launch revisit campaigns, optimize staffing schedules, and fast-track triage protocols.</a:t>
            </a:r>
            <a:endParaRPr lang="en-US" sz="900" dirty="0"/>
          </a:p>
        </p:txBody>
      </p:sp>
      <p:sp>
        <p:nvSpPr>
          <p:cNvPr id="53" name="Text 35"/>
          <p:cNvSpPr txBox="1"/>
          <p:nvPr/>
        </p:nvSpPr>
        <p:spPr>
          <a:xfrm>
            <a:off x="4502506" y="4815230"/>
            <a:ext cx="4005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800" dirty="0"/>
          </a:p>
        </p:txBody>
      </p:sp>
      <p:sp>
        <p:nvSpPr>
          <p:cNvPr id="54" name="Shape 36"/>
          <p:cNvSpPr/>
          <p:nvPr/>
        </p:nvSpPr>
        <p:spPr>
          <a:xfrm>
            <a:off x="2286000" y="2386584"/>
            <a:ext cx="2286000" cy="1514246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37"/>
          <p:cNvSpPr/>
          <p:nvPr/>
        </p:nvSpPr>
        <p:spPr>
          <a:xfrm>
            <a:off x="2286000" y="2386584"/>
            <a:ext cx="2286000" cy="38405"/>
          </a:xfrm>
          <a:prstGeom prst="roundRect">
            <a:avLst>
              <a:gd name="adj" fmla="val 179694"/>
            </a:avLst>
          </a:prstGeom>
          <a:solidFill>
            <a:srgbClr val="F57C00"/>
          </a:solidFill>
          <a:ln w="12700">
            <a:solidFill>
              <a:srgbClr val="F57C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6" name="Image 1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3191256" y="2196389"/>
            <a:ext cx="476402" cy="476402"/>
          </a:xfrm>
          <a:prstGeom prst="rect">
            <a:avLst/>
          </a:prstGeom>
        </p:spPr>
      </p:pic>
      <p:pic>
        <p:nvPicPr>
          <p:cNvPr id="57" name="Image 1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3333902" y="2339035"/>
            <a:ext cx="190195" cy="190195"/>
          </a:xfrm>
          <a:prstGeom prst="rect">
            <a:avLst/>
          </a:prstGeom>
        </p:spPr>
      </p:pic>
      <p:sp>
        <p:nvSpPr>
          <p:cNvPr id="58" name="Text 38"/>
          <p:cNvSpPr txBox="1"/>
          <p:nvPr/>
        </p:nvSpPr>
        <p:spPr>
          <a:xfrm>
            <a:off x="3000146" y="2767889"/>
            <a:ext cx="857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</a:t>
            </a:r>
            <a:endParaRPr lang="en-US" sz="1200" dirty="0"/>
          </a:p>
        </p:txBody>
      </p:sp>
      <p:sp>
        <p:nvSpPr>
          <p:cNvPr id="59" name="Text 39"/>
          <p:cNvSpPr txBox="1"/>
          <p:nvPr/>
        </p:nvSpPr>
        <p:spPr>
          <a:xfrm>
            <a:off x="2400300" y="3054096"/>
            <a:ext cx="2057400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 up automated alerts for KPI deviations (e.g., wait time &gt;30m) and forecast future demand to sustain improvements.</a:t>
            </a:r>
            <a:endParaRPr lang="en-US" sz="900" dirty="0"/>
          </a:p>
        </p:txBody>
      </p:sp>
      <p:sp>
        <p:nvSpPr>
          <p:cNvPr id="60" name="Text 40"/>
          <p:cNvSpPr txBox="1"/>
          <p:nvPr/>
        </p:nvSpPr>
        <p:spPr>
          <a:xfrm>
            <a:off x="4143146" y="2520086"/>
            <a:ext cx="3813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09244"/>
            <a:ext cx="12191695" cy="8429854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1500" y="1190549"/>
            <a:ext cx="3495751" cy="3696005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1500" y="1190549"/>
            <a:ext cx="3495751" cy="38405"/>
          </a:xfrm>
          <a:prstGeom prst="roundRect">
            <a:avLst>
              <a:gd name="adj" fmla="val 103801"/>
            </a:avLst>
          </a:prstGeom>
          <a:solidFill>
            <a:srgbClr val="0277BD"/>
          </a:solidFill>
          <a:ln w="12700">
            <a:solidFill>
              <a:srgbClr val="0277B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0100" y="1457554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E1F5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805" y="1609344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0100" y="2180844"/>
            <a:ext cx="31528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ETL &amp; Data Integration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0100" y="2553005"/>
            <a:ext cx="31153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Cleaned raw CSV/Excel extracts via Power Query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00100" y="3036722"/>
            <a:ext cx="33951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Implemented advanced transformation logic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00100" y="3307385"/>
            <a:ext cx="31153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Handled missing values via statistical imputation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" y="3791102"/>
            <a:ext cx="31528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Optimized data types for performance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4418381"/>
            <a:ext cx="905256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0100" y="4418381"/>
            <a:ext cx="9052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55A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Query</a:t>
            </a:r>
            <a:endParaRPr lang="en-US" sz="8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4850" y="4418381"/>
            <a:ext cx="847649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74850" y="4418381"/>
            <a:ext cx="848563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55A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 Language</a:t>
            </a:r>
            <a:endParaRPr lang="en-US" sz="8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2908" y="4418381"/>
            <a:ext cx="981151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692908" y="4418381"/>
            <a:ext cx="981151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55A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Cleaning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4349801" y="1190549"/>
            <a:ext cx="3495751" cy="3696005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4349801" y="1190549"/>
            <a:ext cx="3495751" cy="38405"/>
          </a:xfrm>
          <a:prstGeom prst="roundRect">
            <a:avLst>
              <a:gd name="adj" fmla="val 103801"/>
            </a:avLst>
          </a:prstGeom>
          <a:solidFill>
            <a:srgbClr val="00838F"/>
          </a:solidFill>
          <a:ln w="12700">
            <a:solidFill>
              <a:srgbClr val="0083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4578401" y="1457554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E0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4716475" y="1609344"/>
            <a:ext cx="256946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578401" y="2180844"/>
            <a:ext cx="31528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Modeling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4578401" y="2553005"/>
            <a:ext cx="35551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Designed efficient Star Schema architecture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4578401" y="2823667"/>
            <a:ext cx="35551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 optimized one-to-many relationships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4578401" y="3093415"/>
            <a:ext cx="31153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dedicated Date/Calendar dimension tables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4578401" y="3578047"/>
            <a:ext cx="31528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Reduced model size via normalization</a:t>
            </a:r>
            <a:endParaRPr lang="en-US" sz="10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8401" y="4418381"/>
            <a:ext cx="866851" cy="23774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578401" y="4418381"/>
            <a:ext cx="866851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55A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 Schema</a:t>
            </a:r>
            <a:endParaRPr lang="en-US" sz="8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3832" y="4418381"/>
            <a:ext cx="1028700" cy="23774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513832" y="4418381"/>
            <a:ext cx="10287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55A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Normalization</a:t>
            </a:r>
            <a:endParaRPr lang="en-US" sz="8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3855" y="4418381"/>
            <a:ext cx="952805" cy="23774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613855" y="4418381"/>
            <a:ext cx="9528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55A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Relationships</a:t>
            </a:r>
            <a:endParaRPr lang="en-US" sz="800" dirty="0"/>
          </a:p>
        </p:txBody>
      </p:sp>
      <p:sp>
        <p:nvSpPr>
          <p:cNvPr id="35" name="Shape 25"/>
          <p:cNvSpPr/>
          <p:nvPr/>
        </p:nvSpPr>
        <p:spPr>
          <a:xfrm>
            <a:off x="8128102" y="1190549"/>
            <a:ext cx="3495751" cy="3696005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6"/>
          <p:cNvSpPr/>
          <p:nvPr/>
        </p:nvSpPr>
        <p:spPr>
          <a:xfrm>
            <a:off x="8128102" y="1190549"/>
            <a:ext cx="3495751" cy="38405"/>
          </a:xfrm>
          <a:prstGeom prst="roundRect">
            <a:avLst>
              <a:gd name="adj" fmla="val 103801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7"/>
          <p:cNvSpPr/>
          <p:nvPr/>
        </p:nvSpPr>
        <p:spPr>
          <a:xfrm>
            <a:off x="8356702" y="1457554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rcRect l="-133" r="-133"/>
          <a:stretch/>
        </p:blipFill>
        <p:spPr>
          <a:xfrm>
            <a:off x="8537753" y="1609344"/>
            <a:ext cx="171907" cy="22860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8356702" y="2180844"/>
            <a:ext cx="31528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Advanced Analytics (DAX)</a:t>
            </a:r>
            <a:endParaRPr lang="en-US" sz="1300" dirty="0"/>
          </a:p>
        </p:txBody>
      </p:sp>
      <p:sp>
        <p:nvSpPr>
          <p:cNvPr id="40" name="Text 29"/>
          <p:cNvSpPr txBox="1"/>
          <p:nvPr/>
        </p:nvSpPr>
        <p:spPr>
          <a:xfrm>
            <a:off x="8356702" y="2553005"/>
            <a:ext cx="31153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Developed complex Time Intelligence measures (YoY, MoM)</a:t>
            </a:r>
            <a:endParaRPr lang="en-US" sz="1000" dirty="0"/>
          </a:p>
        </p:txBody>
      </p:sp>
      <p:sp>
        <p:nvSpPr>
          <p:cNvPr id="41" name="Text 30"/>
          <p:cNvSpPr txBox="1"/>
          <p:nvPr/>
        </p:nvSpPr>
        <p:spPr>
          <a:xfrm>
            <a:off x="8356702" y="3036722"/>
            <a:ext cx="31153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 dynamic segmentation logic (Wait Time Bands)</a:t>
            </a:r>
            <a:endParaRPr lang="en-US" sz="1000" dirty="0"/>
          </a:p>
        </p:txBody>
      </p:sp>
      <p:sp>
        <p:nvSpPr>
          <p:cNvPr id="42" name="Text 31"/>
          <p:cNvSpPr txBox="1"/>
          <p:nvPr/>
        </p:nvSpPr>
        <p:spPr>
          <a:xfrm>
            <a:off x="8356702" y="3520440"/>
            <a:ext cx="31153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Implemented ALL, CALCULATE, and FILTER contexts</a:t>
            </a:r>
            <a:endParaRPr lang="en-US" sz="1000" dirty="0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56702" y="4418381"/>
            <a:ext cx="371246" cy="237744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8356702" y="4418381"/>
            <a:ext cx="372161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55A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DAX</a:t>
            </a:r>
            <a:endParaRPr lang="en-US" sz="800" dirty="0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96528" y="4418381"/>
            <a:ext cx="1152144" cy="23774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8796528" y="4418381"/>
            <a:ext cx="115305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55A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 Intelligence</a:t>
            </a:r>
            <a:endParaRPr lang="en-US" sz="800" dirty="0"/>
          </a:p>
        </p:txBody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17252" y="4418381"/>
            <a:ext cx="694944" cy="237744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10017252" y="4418381"/>
            <a:ext cx="69585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55A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Measures</a:t>
            </a:r>
            <a:endParaRPr lang="en-US" sz="800" dirty="0"/>
          </a:p>
        </p:txBody>
      </p:sp>
      <p:sp>
        <p:nvSpPr>
          <p:cNvPr id="49" name="Shape 35"/>
          <p:cNvSpPr/>
          <p:nvPr/>
        </p:nvSpPr>
        <p:spPr>
          <a:xfrm>
            <a:off x="571500" y="5165446"/>
            <a:ext cx="3495751" cy="3696005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36"/>
          <p:cNvSpPr/>
          <p:nvPr/>
        </p:nvSpPr>
        <p:spPr>
          <a:xfrm>
            <a:off x="571500" y="5165446"/>
            <a:ext cx="3495751" cy="38405"/>
          </a:xfrm>
          <a:prstGeom prst="roundRect">
            <a:avLst>
              <a:gd name="adj" fmla="val 103801"/>
            </a:avLst>
          </a:prstGeom>
          <a:solidFill>
            <a:srgbClr val="EF6C00"/>
          </a:solidFill>
          <a:ln w="12700">
            <a:solidFill>
              <a:srgbClr val="EF6C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37"/>
          <p:cNvSpPr/>
          <p:nvPr/>
        </p:nvSpPr>
        <p:spPr>
          <a:xfrm>
            <a:off x="800100" y="5432450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FFF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15"/>
          <a:srcRect t="-45" b="-45"/>
          <a:stretch/>
        </p:blipFill>
        <p:spPr>
          <a:xfrm>
            <a:off x="938174" y="5585155"/>
            <a:ext cx="256946" cy="228600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800100" y="6156655"/>
            <a:ext cx="31528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Visualization</a:t>
            </a:r>
            <a:endParaRPr lang="en-US" sz="1300" dirty="0"/>
          </a:p>
        </p:txBody>
      </p:sp>
      <p:sp>
        <p:nvSpPr>
          <p:cNvPr id="54" name="Text 39"/>
          <p:cNvSpPr txBox="1"/>
          <p:nvPr/>
        </p:nvSpPr>
        <p:spPr>
          <a:xfrm>
            <a:off x="800100" y="6527902"/>
            <a:ext cx="36091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Designed interactive drill-through capabilities</a:t>
            </a:r>
            <a:endParaRPr lang="en-US" sz="1000" dirty="0"/>
          </a:p>
        </p:txBody>
      </p:sp>
      <p:sp>
        <p:nvSpPr>
          <p:cNvPr id="55" name="Text 40"/>
          <p:cNvSpPr txBox="1"/>
          <p:nvPr/>
        </p:nvSpPr>
        <p:spPr>
          <a:xfrm>
            <a:off x="800100" y="6798564"/>
            <a:ext cx="35551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Utilized bookmarks for dynamic report views</a:t>
            </a:r>
            <a:endParaRPr lang="en-US" sz="1000" dirty="0"/>
          </a:p>
        </p:txBody>
      </p:sp>
      <p:sp>
        <p:nvSpPr>
          <p:cNvPr id="56" name="Text 41"/>
          <p:cNvSpPr txBox="1"/>
          <p:nvPr/>
        </p:nvSpPr>
        <p:spPr>
          <a:xfrm>
            <a:off x="800100" y="7069226"/>
            <a:ext cx="31153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Implemented custom tooltips for deep-dive insights</a:t>
            </a:r>
            <a:endParaRPr lang="en-US" sz="1000" dirty="0"/>
          </a:p>
        </p:txBody>
      </p:sp>
      <p:sp>
        <p:nvSpPr>
          <p:cNvPr id="57" name="Text 42"/>
          <p:cNvSpPr txBox="1"/>
          <p:nvPr/>
        </p:nvSpPr>
        <p:spPr>
          <a:xfrm>
            <a:off x="800100" y="7552944"/>
            <a:ext cx="36091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Applied Gestalt principles for layout clarity</a:t>
            </a:r>
            <a:endParaRPr lang="en-US" sz="1000" dirty="0"/>
          </a:p>
        </p:txBody>
      </p:sp>
      <p:pic>
        <p:nvPicPr>
          <p:cNvPr id="58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" y="8393278"/>
            <a:ext cx="1000354" cy="237744"/>
          </a:xfrm>
          <a:prstGeom prst="rect">
            <a:avLst/>
          </a:prstGeom>
        </p:spPr>
      </p:pic>
      <p:sp>
        <p:nvSpPr>
          <p:cNvPr id="59" name="Text 43"/>
          <p:cNvSpPr/>
          <p:nvPr/>
        </p:nvSpPr>
        <p:spPr>
          <a:xfrm>
            <a:off x="800100" y="8393278"/>
            <a:ext cx="1000354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55A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Drill-Through</a:t>
            </a:r>
            <a:endParaRPr lang="en-US" sz="800" dirty="0"/>
          </a:p>
        </p:txBody>
      </p:sp>
      <p:pic>
        <p:nvPicPr>
          <p:cNvPr id="60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71777" y="8393278"/>
            <a:ext cx="819302" cy="237744"/>
          </a:xfrm>
          <a:prstGeom prst="rect">
            <a:avLst/>
          </a:prstGeom>
        </p:spPr>
      </p:pic>
      <p:sp>
        <p:nvSpPr>
          <p:cNvPr id="61" name="Text 44"/>
          <p:cNvSpPr/>
          <p:nvPr/>
        </p:nvSpPr>
        <p:spPr>
          <a:xfrm>
            <a:off x="1871777" y="8393278"/>
            <a:ext cx="81930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55A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Bookmarks</a:t>
            </a:r>
            <a:endParaRPr lang="en-US" sz="800" dirty="0"/>
          </a:p>
        </p:txBody>
      </p:sp>
      <p:pic>
        <p:nvPicPr>
          <p:cNvPr id="62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758745" y="8393278"/>
            <a:ext cx="714146" cy="237744"/>
          </a:xfrm>
          <a:prstGeom prst="rect">
            <a:avLst/>
          </a:prstGeom>
        </p:spPr>
      </p:pic>
      <p:sp>
        <p:nvSpPr>
          <p:cNvPr id="63" name="Text 45"/>
          <p:cNvSpPr/>
          <p:nvPr/>
        </p:nvSpPr>
        <p:spPr>
          <a:xfrm>
            <a:off x="2758745" y="8393278"/>
            <a:ext cx="715061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55A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UX Design</a:t>
            </a:r>
            <a:endParaRPr lang="en-US" sz="800" dirty="0"/>
          </a:p>
        </p:txBody>
      </p:sp>
      <p:sp>
        <p:nvSpPr>
          <p:cNvPr id="64" name="Shape 46"/>
          <p:cNvSpPr/>
          <p:nvPr/>
        </p:nvSpPr>
        <p:spPr>
          <a:xfrm>
            <a:off x="4349801" y="5165446"/>
            <a:ext cx="3495751" cy="3696005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47"/>
          <p:cNvSpPr/>
          <p:nvPr/>
        </p:nvSpPr>
        <p:spPr>
          <a:xfrm>
            <a:off x="4349801" y="5165446"/>
            <a:ext cx="3495751" cy="38405"/>
          </a:xfrm>
          <a:prstGeom prst="roundRect">
            <a:avLst>
              <a:gd name="adj" fmla="val 103801"/>
            </a:avLst>
          </a:prstGeom>
          <a:solidFill>
            <a:srgbClr val="6A1B9A"/>
          </a:solidFill>
          <a:ln w="12700">
            <a:solidFill>
              <a:srgbClr val="6A1B9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48"/>
          <p:cNvSpPr/>
          <p:nvPr/>
        </p:nvSpPr>
        <p:spPr>
          <a:xfrm>
            <a:off x="4578401" y="5432450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F3E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7" name="Image 16" descr="preencoded.png"/>
          <p:cNvPicPr>
            <a:picLocks noChangeAspect="1"/>
          </p:cNvPicPr>
          <p:nvPr/>
        </p:nvPicPr>
        <p:blipFill>
          <a:blip r:embed="rId19"/>
          <a:srcRect l="-133" r="-133"/>
          <a:stretch/>
        </p:blipFill>
        <p:spPr>
          <a:xfrm>
            <a:off x="4759452" y="5585155"/>
            <a:ext cx="171907" cy="228600"/>
          </a:xfrm>
          <a:prstGeom prst="rect">
            <a:avLst/>
          </a:prstGeom>
        </p:spPr>
      </p:pic>
      <p:sp>
        <p:nvSpPr>
          <p:cNvPr id="68" name="Text 49"/>
          <p:cNvSpPr txBox="1"/>
          <p:nvPr/>
        </p:nvSpPr>
        <p:spPr>
          <a:xfrm>
            <a:off x="4578401" y="6156655"/>
            <a:ext cx="330372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Intelligence Strategy</a:t>
            </a:r>
            <a:endParaRPr lang="en-US" sz="1300" dirty="0"/>
          </a:p>
        </p:txBody>
      </p:sp>
      <p:sp>
        <p:nvSpPr>
          <p:cNvPr id="69" name="Text 50"/>
          <p:cNvSpPr txBox="1"/>
          <p:nvPr/>
        </p:nvSpPr>
        <p:spPr>
          <a:xfrm>
            <a:off x="4578401" y="6527902"/>
            <a:ext cx="31153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Translated raw logs into $1.4M+ business value</a:t>
            </a:r>
            <a:endParaRPr lang="en-US" sz="1000" dirty="0"/>
          </a:p>
        </p:txBody>
      </p:sp>
      <p:sp>
        <p:nvSpPr>
          <p:cNvPr id="70" name="Text 51"/>
          <p:cNvSpPr txBox="1"/>
          <p:nvPr/>
        </p:nvSpPr>
        <p:spPr>
          <a:xfrm>
            <a:off x="4578401" y="7011619"/>
            <a:ext cx="31153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Designed KPIs aligned with organizational goals</a:t>
            </a:r>
            <a:endParaRPr lang="en-US" sz="1000" dirty="0"/>
          </a:p>
        </p:txBody>
      </p:sp>
      <p:sp>
        <p:nvSpPr>
          <p:cNvPr id="71" name="Text 52"/>
          <p:cNvSpPr txBox="1"/>
          <p:nvPr/>
        </p:nvSpPr>
        <p:spPr>
          <a:xfrm>
            <a:off x="4578401" y="7496251"/>
            <a:ext cx="31153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 executive-ready storytelling narratives</a:t>
            </a:r>
            <a:endParaRPr lang="en-US" sz="1000" dirty="0"/>
          </a:p>
        </p:txBody>
      </p:sp>
      <p:sp>
        <p:nvSpPr>
          <p:cNvPr id="72" name="Text 53"/>
          <p:cNvSpPr txBox="1"/>
          <p:nvPr/>
        </p:nvSpPr>
        <p:spPr>
          <a:xfrm>
            <a:off x="4578401" y="7979969"/>
            <a:ext cx="33147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Focused on actionable vs. vanity metrics</a:t>
            </a:r>
            <a:endParaRPr lang="en-US" sz="1000" dirty="0"/>
          </a:p>
        </p:txBody>
      </p:sp>
      <p:pic>
        <p:nvPicPr>
          <p:cNvPr id="73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78401" y="8393278"/>
            <a:ext cx="733349" cy="237744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4578401" y="8393278"/>
            <a:ext cx="734263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55A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KPI Design</a:t>
            </a:r>
            <a:endParaRPr lang="en-US" sz="800" dirty="0"/>
          </a:p>
        </p:txBody>
      </p:sp>
      <p:pic>
        <p:nvPicPr>
          <p:cNvPr id="75" name="Image 1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0330" y="8393278"/>
            <a:ext cx="905256" cy="237744"/>
          </a:xfrm>
          <a:prstGeom prst="rect">
            <a:avLst/>
          </a:prstGeom>
        </p:spPr>
      </p:pic>
      <p:sp>
        <p:nvSpPr>
          <p:cNvPr id="76" name="Text 55"/>
          <p:cNvSpPr/>
          <p:nvPr/>
        </p:nvSpPr>
        <p:spPr>
          <a:xfrm>
            <a:off x="5380330" y="8393278"/>
            <a:ext cx="9052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55A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Storytelling</a:t>
            </a:r>
            <a:endParaRPr lang="en-US" sz="800" dirty="0"/>
          </a:p>
        </p:txBody>
      </p:sp>
      <p:pic>
        <p:nvPicPr>
          <p:cNvPr id="77" name="Image 1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8738" y="8393278"/>
            <a:ext cx="847649" cy="237744"/>
          </a:xfrm>
          <a:prstGeom prst="rect">
            <a:avLst/>
          </a:prstGeom>
        </p:spPr>
      </p:pic>
      <p:sp>
        <p:nvSpPr>
          <p:cNvPr id="78" name="Text 56"/>
          <p:cNvSpPr/>
          <p:nvPr/>
        </p:nvSpPr>
        <p:spPr>
          <a:xfrm>
            <a:off x="6358738" y="8393278"/>
            <a:ext cx="848563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55A6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ROI Analysis</a:t>
            </a:r>
            <a:endParaRPr lang="en-US" sz="800" dirty="0"/>
          </a:p>
        </p:txBody>
      </p:sp>
      <p:sp>
        <p:nvSpPr>
          <p:cNvPr id="79" name="Shape 57"/>
          <p:cNvSpPr/>
          <p:nvPr/>
        </p:nvSpPr>
        <p:spPr>
          <a:xfrm>
            <a:off x="8128102" y="5165446"/>
            <a:ext cx="3495751" cy="3696005"/>
          </a:xfrm>
          <a:prstGeom prst="roundRect">
            <a:avLst>
              <a:gd name="adj" fmla="val 1140"/>
            </a:avLst>
          </a:prstGeom>
          <a:solidFill>
            <a:srgbClr val="263238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0" name="Shape 58"/>
          <p:cNvSpPr/>
          <p:nvPr/>
        </p:nvSpPr>
        <p:spPr>
          <a:xfrm>
            <a:off x="8128102" y="5165446"/>
            <a:ext cx="3495751" cy="38405"/>
          </a:xfrm>
          <a:prstGeom prst="roundRect">
            <a:avLst>
              <a:gd name="adj" fmla="val 103801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59"/>
          <p:cNvSpPr/>
          <p:nvPr/>
        </p:nvSpPr>
        <p:spPr>
          <a:xfrm>
            <a:off x="8356702" y="5432450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2" name="Image 20" descr="preencoded.png"/>
          <p:cNvPicPr>
            <a:picLocks noChangeAspect="1"/>
          </p:cNvPicPr>
          <p:nvPr/>
        </p:nvPicPr>
        <p:blipFill>
          <a:blip r:embed="rId21"/>
          <a:srcRect l="-57" r="-57"/>
          <a:stretch/>
        </p:blipFill>
        <p:spPr>
          <a:xfrm>
            <a:off x="8523122" y="5585155"/>
            <a:ext cx="200254" cy="228600"/>
          </a:xfrm>
          <a:prstGeom prst="rect">
            <a:avLst/>
          </a:prstGeom>
        </p:spPr>
      </p:pic>
      <p:sp>
        <p:nvSpPr>
          <p:cNvPr id="83" name="Text 60"/>
          <p:cNvSpPr txBox="1"/>
          <p:nvPr/>
        </p:nvSpPr>
        <p:spPr>
          <a:xfrm>
            <a:off x="8356702" y="6156655"/>
            <a:ext cx="31528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 Readiness</a:t>
            </a:r>
            <a:endParaRPr lang="en-US" sz="1300" dirty="0"/>
          </a:p>
        </p:txBody>
      </p:sp>
      <p:sp>
        <p:nvSpPr>
          <p:cNvPr id="84" name="Text 61"/>
          <p:cNvSpPr txBox="1"/>
          <p:nvPr/>
        </p:nvSpPr>
        <p:spPr>
          <a:xfrm>
            <a:off x="8356702" y="6527902"/>
            <a:ext cx="31153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EC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Demonstrated ability to bridge the gap between technical data engineering and strategic business decision-making.</a:t>
            </a:r>
            <a:endParaRPr lang="en-US" sz="1000" dirty="0"/>
          </a:p>
        </p:txBody>
      </p:sp>
      <p:sp>
        <p:nvSpPr>
          <p:cNvPr id="85" name="Text 62"/>
          <p:cNvSpPr txBox="1"/>
          <p:nvPr/>
        </p:nvSpPr>
        <p:spPr>
          <a:xfrm>
            <a:off x="8356702" y="7244791"/>
            <a:ext cx="31153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B0BEC5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"Not just building reports, but solving business problems."</a:t>
            </a:r>
            <a:endParaRPr lang="en-US" sz="1000" dirty="0"/>
          </a:p>
        </p:txBody>
      </p:sp>
      <p:pic>
        <p:nvPicPr>
          <p:cNvPr id="86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56702" y="8083296"/>
            <a:ext cx="1133856" cy="237744"/>
          </a:xfrm>
          <a:prstGeom prst="rect">
            <a:avLst/>
          </a:prstGeom>
        </p:spPr>
      </p:pic>
      <p:sp>
        <p:nvSpPr>
          <p:cNvPr id="87" name="Text 63"/>
          <p:cNvSpPr/>
          <p:nvPr/>
        </p:nvSpPr>
        <p:spPr>
          <a:xfrm>
            <a:off x="8356702" y="8083296"/>
            <a:ext cx="11338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0F7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 Solving</a:t>
            </a:r>
            <a:endParaRPr lang="en-US" sz="800" dirty="0"/>
          </a:p>
        </p:txBody>
      </p:sp>
      <p:pic>
        <p:nvPicPr>
          <p:cNvPr id="88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60052" y="8083296"/>
            <a:ext cx="1086307" cy="237744"/>
          </a:xfrm>
          <a:prstGeom prst="rect">
            <a:avLst/>
          </a:prstGeom>
        </p:spPr>
      </p:pic>
      <p:sp>
        <p:nvSpPr>
          <p:cNvPr id="89" name="Text 64"/>
          <p:cNvSpPr/>
          <p:nvPr/>
        </p:nvSpPr>
        <p:spPr>
          <a:xfrm>
            <a:off x="9560052" y="8083296"/>
            <a:ext cx="1086307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0F7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Communication</a:t>
            </a:r>
            <a:endParaRPr lang="en-US" sz="800" dirty="0"/>
          </a:p>
        </p:txBody>
      </p:sp>
      <p:pic>
        <p:nvPicPr>
          <p:cNvPr id="90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56702" y="8393278"/>
            <a:ext cx="1248156" cy="237744"/>
          </a:xfrm>
          <a:prstGeom prst="rect">
            <a:avLst/>
          </a:prstGeom>
        </p:spPr>
      </p:pic>
      <p:sp>
        <p:nvSpPr>
          <p:cNvPr id="91" name="Text 65"/>
          <p:cNvSpPr/>
          <p:nvPr/>
        </p:nvSpPr>
        <p:spPr>
          <a:xfrm>
            <a:off x="8356702" y="8393278"/>
            <a:ext cx="12481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0F7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Stakeholder Mgmt</a:t>
            </a:r>
            <a:endParaRPr lang="en-US" sz="800" dirty="0"/>
          </a:p>
        </p:txBody>
      </p:sp>
      <p:sp>
        <p:nvSpPr>
          <p:cNvPr id="92" name="Shape 66"/>
          <p:cNvSpPr/>
          <p:nvPr/>
        </p:nvSpPr>
        <p:spPr>
          <a:xfrm>
            <a:off x="0" y="0"/>
            <a:ext cx="12191695" cy="809244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3" name="Text 67"/>
          <p:cNvSpPr txBox="1"/>
          <p:nvPr/>
        </p:nvSpPr>
        <p:spPr>
          <a:xfrm>
            <a:off x="571500" y="0"/>
            <a:ext cx="746973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Capabilities Demonstrated</a:t>
            </a:r>
            <a:endParaRPr lang="en-US" sz="2700" dirty="0"/>
          </a:p>
        </p:txBody>
      </p:sp>
      <p:sp>
        <p:nvSpPr>
          <p:cNvPr id="94" name="Text 68"/>
          <p:cNvSpPr txBox="1"/>
          <p:nvPr/>
        </p:nvSpPr>
        <p:spPr>
          <a:xfrm>
            <a:off x="571500" y="552298"/>
            <a:ext cx="65535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DD0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End-to-End BI Stack Implementation &amp; Proficiency</a:t>
            </a:r>
            <a:endParaRPr lang="en-US" sz="1300" dirty="0"/>
          </a:p>
        </p:txBody>
      </p:sp>
      <p:pic>
        <p:nvPicPr>
          <p:cNvPr id="95" name="Image 24" descr="preencoded.png"/>
          <p:cNvPicPr>
            <a:picLocks noChangeAspect="1"/>
          </p:cNvPicPr>
          <p:nvPr/>
        </p:nvPicPr>
        <p:blipFill>
          <a:blip r:embed="rId25">
            <a:alphaModFix amt="80000"/>
          </a:blip>
          <a:srcRect l="-266" r="-266"/>
          <a:stretch/>
        </p:blipFill>
        <p:spPr>
          <a:xfrm>
            <a:off x="9285732" y="261518"/>
            <a:ext cx="323698" cy="286207"/>
          </a:xfrm>
          <a:prstGeom prst="rect">
            <a:avLst/>
          </a:prstGeom>
        </p:spPr>
      </p:pic>
      <p:sp>
        <p:nvSpPr>
          <p:cNvPr id="96" name="Text 69"/>
          <p:cNvSpPr txBox="1"/>
          <p:nvPr/>
        </p:nvSpPr>
        <p:spPr>
          <a:xfrm>
            <a:off x="9686239" y="261518"/>
            <a:ext cx="211043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HEALTHANALYTICS</a:t>
            </a:r>
            <a:endParaRPr lang="en-US" sz="1500" dirty="0"/>
          </a:p>
        </p:txBody>
      </p:sp>
      <p:sp>
        <p:nvSpPr>
          <p:cNvPr id="97" name="Text 70"/>
          <p:cNvSpPr txBox="1"/>
          <p:nvPr/>
        </p:nvSpPr>
        <p:spPr>
          <a:xfrm>
            <a:off x="10490911" y="271577"/>
            <a:ext cx="12097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ANALYTICS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09244"/>
            <a:ext cx="12191695" cy="6133795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1500" y="1095451"/>
            <a:ext cx="11048695" cy="1200607"/>
          </a:xfrm>
          <a:prstGeom prst="roundRect">
            <a:avLst>
              <a:gd name="adj" fmla="val 7253"/>
            </a:avLst>
          </a:prstGeom>
          <a:solidFill>
            <a:srgbClr val="00ACC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ACC1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52805" y="1390802"/>
            <a:ext cx="609905" cy="609905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4654" y="1552651"/>
            <a:ext cx="286207" cy="2862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52905" y="1285646"/>
            <a:ext cx="291236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Financial Impact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752905" y="1571854"/>
            <a:ext cx="299100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$1.4M+</a:t>
            </a:r>
            <a:endParaRPr lang="en-US" sz="4200" dirty="0"/>
          </a:p>
        </p:txBody>
      </p:sp>
      <p:sp>
        <p:nvSpPr>
          <p:cNvPr id="10" name="Text 7"/>
          <p:cNvSpPr txBox="1"/>
          <p:nvPr/>
        </p:nvSpPr>
        <p:spPr>
          <a:xfrm>
            <a:off x="6806794" y="1600200"/>
            <a:ext cx="277977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Return on Analytics Investment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6628" y="1447495"/>
            <a:ext cx="1647749" cy="4956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596628" y="1447495"/>
            <a:ext cx="1648663" cy="4956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83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2,800% ROI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71500" y="2533802"/>
            <a:ext cx="3286354" cy="1971446"/>
          </a:xfrm>
          <a:prstGeom prst="roundRect">
            <a:avLst>
              <a:gd name="adj" fmla="val 3585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71500" y="2533802"/>
            <a:ext cx="57607" cy="1971446"/>
          </a:xfrm>
          <a:prstGeom prst="roundRect">
            <a:avLst>
              <a:gd name="adj" fmla="val 122690"/>
            </a:avLst>
          </a:prstGeom>
          <a:solidFill>
            <a:srgbClr val="43A047"/>
          </a:solidFill>
          <a:ln w="12700">
            <a:solidFill>
              <a:srgbClr val="43A0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857707" y="2723998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46E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Growth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>
            <a:alphaModFix amt="20000"/>
          </a:blip>
          <a:srcRect t="-45" b="-45"/>
          <a:stretch/>
        </p:blipFill>
        <p:spPr>
          <a:xfrm>
            <a:off x="3368650" y="2723998"/>
            <a:ext cx="256946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7707" y="3366821"/>
            <a:ext cx="29626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7D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+$994.7K</a:t>
            </a:r>
            <a:endParaRPr lang="en-US" sz="27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t="-524" b="-524"/>
          <a:stretch/>
        </p:blipFill>
        <p:spPr>
          <a:xfrm>
            <a:off x="857707" y="4154119"/>
            <a:ext cx="152705" cy="1234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67105" y="4123030"/>
            <a:ext cx="21762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1,421 converted patients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4045306" y="2533802"/>
            <a:ext cx="3286354" cy="1971446"/>
          </a:xfrm>
          <a:prstGeom prst="roundRect">
            <a:avLst>
              <a:gd name="adj" fmla="val 3585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4045306" y="2533802"/>
            <a:ext cx="57607" cy="1971446"/>
          </a:xfrm>
          <a:prstGeom prst="roundRect">
            <a:avLst>
              <a:gd name="adj" fmla="val 122690"/>
            </a:avLst>
          </a:prstGeom>
          <a:solidFill>
            <a:srgbClr val="E53935"/>
          </a:solidFill>
          <a:ln w="12700">
            <a:solidFill>
              <a:srgbClr val="E539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 txBox="1"/>
          <p:nvPr/>
        </p:nvSpPr>
        <p:spPr>
          <a:xfrm>
            <a:off x="4330598" y="2723998"/>
            <a:ext cx="1515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46E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Reduction</a:t>
            </a:r>
            <a:endParaRPr lang="en-US" sz="12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6870802" y="2723998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330598" y="3366821"/>
            <a:ext cx="29626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62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-$412.0K</a:t>
            </a:r>
            <a:endParaRPr lang="en-US" sz="27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330598" y="4154119"/>
            <a:ext cx="123444" cy="12344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4511650" y="4123030"/>
            <a:ext cx="21762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12% operational cost decrease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571500" y="4689958"/>
            <a:ext cx="3286354" cy="1971446"/>
          </a:xfrm>
          <a:prstGeom prst="roundRect">
            <a:avLst>
              <a:gd name="adj" fmla="val 3585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0"/>
          <p:cNvSpPr/>
          <p:nvPr/>
        </p:nvSpPr>
        <p:spPr>
          <a:xfrm>
            <a:off x="571500" y="4689958"/>
            <a:ext cx="57607" cy="1971446"/>
          </a:xfrm>
          <a:prstGeom prst="roundRect">
            <a:avLst>
              <a:gd name="adj" fmla="val 122690"/>
            </a:avLst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1"/>
          <p:cNvSpPr txBox="1"/>
          <p:nvPr/>
        </p:nvSpPr>
        <p:spPr>
          <a:xfrm>
            <a:off x="857707" y="4880153"/>
            <a:ext cx="1571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46E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Efficiency Gains</a:t>
            </a:r>
            <a:endParaRPr lang="en-US" sz="12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>
            <a:alphaModFix amt="20000"/>
          </a:blip>
          <a:srcRect l="-57" r="-57"/>
          <a:stretch/>
        </p:blipFill>
        <p:spPr>
          <a:xfrm>
            <a:off x="3426257" y="4880153"/>
            <a:ext cx="200254" cy="2286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57707" y="5522976"/>
            <a:ext cx="29626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565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-31% Wait</a:t>
            </a:r>
            <a:endParaRPr lang="en-US" sz="27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rcRect t="-524" b="-524"/>
          <a:stretch/>
        </p:blipFill>
        <p:spPr>
          <a:xfrm>
            <a:off x="857707" y="6310274"/>
            <a:ext cx="152705" cy="123444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067105" y="6280099"/>
            <a:ext cx="1666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+18% Capacity increase</a:t>
            </a:r>
            <a:endParaRPr lang="en-US" sz="900" dirty="0"/>
          </a:p>
        </p:txBody>
      </p:sp>
      <p:sp>
        <p:nvSpPr>
          <p:cNvPr id="34" name="Shape 24"/>
          <p:cNvSpPr/>
          <p:nvPr/>
        </p:nvSpPr>
        <p:spPr>
          <a:xfrm>
            <a:off x="4045306" y="4689958"/>
            <a:ext cx="3286354" cy="1971446"/>
          </a:xfrm>
          <a:prstGeom prst="roundRect">
            <a:avLst>
              <a:gd name="adj" fmla="val 3585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5"/>
          <p:cNvSpPr/>
          <p:nvPr/>
        </p:nvSpPr>
        <p:spPr>
          <a:xfrm>
            <a:off x="4045306" y="4689958"/>
            <a:ext cx="57607" cy="1971446"/>
          </a:xfrm>
          <a:prstGeom prst="roundRect">
            <a:avLst>
              <a:gd name="adj" fmla="val 122690"/>
            </a:avLst>
          </a:prstGeom>
          <a:solidFill>
            <a:srgbClr val="8E24AA"/>
          </a:solidFill>
          <a:ln w="12700">
            <a:solidFill>
              <a:srgbClr val="8E24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6"/>
          <p:cNvSpPr txBox="1"/>
          <p:nvPr/>
        </p:nvSpPr>
        <p:spPr>
          <a:xfrm>
            <a:off x="4330598" y="4880153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46E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Patient Experience</a:t>
            </a:r>
            <a:endParaRPr lang="en-US" sz="12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>
            <a:alphaModFix amt="20000"/>
          </a:blip>
          <a:srcRect/>
          <a:stretch/>
        </p:blipFill>
        <p:spPr>
          <a:xfrm>
            <a:off x="6870802" y="4880153"/>
            <a:ext cx="228600" cy="22860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4330598" y="5522976"/>
            <a:ext cx="29626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7B1FA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+36% Score</a:t>
            </a:r>
            <a:endParaRPr lang="en-US" sz="270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330598" y="6310274"/>
            <a:ext cx="123444" cy="123444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4511650" y="6280099"/>
            <a:ext cx="1757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Improved from 5.0 to 6.8</a:t>
            </a:r>
            <a:endParaRPr lang="en-US" sz="900" dirty="0"/>
          </a:p>
        </p:txBody>
      </p:sp>
      <p:sp>
        <p:nvSpPr>
          <p:cNvPr id="41" name="Shape 29"/>
          <p:cNvSpPr/>
          <p:nvPr/>
        </p:nvSpPr>
        <p:spPr>
          <a:xfrm>
            <a:off x="7566660" y="2533802"/>
            <a:ext cx="4058107" cy="4123944"/>
          </a:xfrm>
          <a:prstGeom prst="roundRect">
            <a:avLst>
              <a:gd name="adj" fmla="val 84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0"/>
          <p:cNvSpPr/>
          <p:nvPr/>
        </p:nvSpPr>
        <p:spPr>
          <a:xfrm>
            <a:off x="7795260" y="3114446"/>
            <a:ext cx="3600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1"/>
          <p:cNvSpPr txBox="1"/>
          <p:nvPr/>
        </p:nvSpPr>
        <p:spPr>
          <a:xfrm>
            <a:off x="7795260" y="2762402"/>
            <a:ext cx="3676802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Value Delivered</a:t>
            </a:r>
            <a:endParaRPr lang="en-US" sz="1300" dirty="0"/>
          </a:p>
        </p:txBody>
      </p:sp>
      <p:sp>
        <p:nvSpPr>
          <p:cNvPr id="44" name="Shape 32"/>
          <p:cNvSpPr/>
          <p:nvPr/>
        </p:nvSpPr>
        <p:spPr>
          <a:xfrm>
            <a:off x="7795260" y="3343046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ECEF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3"/>
          <a:srcRect t="-1100" b="-1100"/>
          <a:stretch/>
        </p:blipFill>
        <p:spPr>
          <a:xfrm>
            <a:off x="7871155" y="3409798"/>
            <a:ext cx="114300" cy="133502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8175650" y="3323844"/>
            <a:ext cx="33339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55A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Maximization</a:t>
            </a:r>
            <a:endParaRPr lang="en-US" sz="1000" dirty="0"/>
          </a:p>
        </p:txBody>
      </p:sp>
      <p:sp>
        <p:nvSpPr>
          <p:cNvPr id="47" name="Text 34"/>
          <p:cNvSpPr txBox="1"/>
          <p:nvPr/>
        </p:nvSpPr>
        <p:spPr>
          <a:xfrm>
            <a:off x="8175650" y="3562502"/>
            <a:ext cx="32964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Unlocked hidden revenue streams by targeting non-registered visitor conversion.</a:t>
            </a:r>
            <a:endParaRPr lang="en-US" sz="900" dirty="0"/>
          </a:p>
        </p:txBody>
      </p:sp>
      <p:sp>
        <p:nvSpPr>
          <p:cNvPr id="48" name="Shape 35"/>
          <p:cNvSpPr/>
          <p:nvPr/>
        </p:nvSpPr>
        <p:spPr>
          <a:xfrm>
            <a:off x="7795260" y="4044391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ECEF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13"/>
          <a:srcRect t="-1100" b="-1100"/>
          <a:stretch/>
        </p:blipFill>
        <p:spPr>
          <a:xfrm>
            <a:off x="7871155" y="4111142"/>
            <a:ext cx="114300" cy="133502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8175650" y="4025189"/>
            <a:ext cx="33339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55A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Resource Optimization</a:t>
            </a:r>
            <a:endParaRPr lang="en-US" sz="1000" dirty="0"/>
          </a:p>
        </p:txBody>
      </p:sp>
      <p:sp>
        <p:nvSpPr>
          <p:cNvPr id="51" name="Text 37"/>
          <p:cNvSpPr txBox="1"/>
          <p:nvPr/>
        </p:nvSpPr>
        <p:spPr>
          <a:xfrm>
            <a:off x="8175650" y="4262933"/>
            <a:ext cx="32964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Aligned staffing with demand patterns, eliminating waste without sacrificing care quality.</a:t>
            </a:r>
            <a:endParaRPr lang="en-US" sz="900" dirty="0"/>
          </a:p>
        </p:txBody>
      </p:sp>
      <p:sp>
        <p:nvSpPr>
          <p:cNvPr id="52" name="Shape 38"/>
          <p:cNvSpPr/>
          <p:nvPr/>
        </p:nvSpPr>
        <p:spPr>
          <a:xfrm>
            <a:off x="7795260" y="4744822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ECEF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13"/>
          <a:srcRect t="-1100" b="-1100"/>
          <a:stretch/>
        </p:blipFill>
        <p:spPr>
          <a:xfrm>
            <a:off x="7871155" y="4811573"/>
            <a:ext cx="114300" cy="133502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8175650" y="4726534"/>
            <a:ext cx="33339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55A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Scalable Intelligence</a:t>
            </a:r>
            <a:endParaRPr lang="en-US" sz="1000" dirty="0"/>
          </a:p>
        </p:txBody>
      </p:sp>
      <p:sp>
        <p:nvSpPr>
          <p:cNvPr id="55" name="Text 40"/>
          <p:cNvSpPr txBox="1"/>
          <p:nvPr/>
        </p:nvSpPr>
        <p:spPr>
          <a:xfrm>
            <a:off x="8175650" y="4964278"/>
            <a:ext cx="32964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890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a reusable data asset that continues to drive decisions beyond this project.</a:t>
            </a:r>
            <a:endParaRPr lang="en-US" sz="900" dirty="0"/>
          </a:p>
        </p:txBody>
      </p:sp>
      <p:pic>
        <p:nvPicPr>
          <p:cNvPr id="56" name="Image 13" descr="preencoded.png"/>
          <p:cNvPicPr>
            <a:picLocks noChangeAspect="1"/>
          </p:cNvPicPr>
          <p:nvPr/>
        </p:nvPicPr>
        <p:blipFill>
          <a:blip r:embed="rId14"/>
          <a:srcRect l="-139" r="-139"/>
          <a:stretch/>
        </p:blipFill>
        <p:spPr>
          <a:xfrm>
            <a:off x="7795260" y="5284318"/>
            <a:ext cx="3600907" cy="1143000"/>
          </a:xfrm>
          <a:prstGeom prst="rect">
            <a:avLst/>
          </a:prstGeom>
        </p:spPr>
      </p:pic>
      <p:sp>
        <p:nvSpPr>
          <p:cNvPr id="57" name="Shape 41"/>
          <p:cNvSpPr/>
          <p:nvPr/>
        </p:nvSpPr>
        <p:spPr>
          <a:xfrm>
            <a:off x="0" y="0"/>
            <a:ext cx="12191695" cy="809244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Text 42"/>
          <p:cNvSpPr txBox="1"/>
          <p:nvPr/>
        </p:nvSpPr>
        <p:spPr>
          <a:xfrm>
            <a:off x="571500" y="0"/>
            <a:ext cx="809335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Summary: Data → Business Value</a:t>
            </a:r>
            <a:endParaRPr lang="en-US" sz="2700" dirty="0"/>
          </a:p>
        </p:txBody>
      </p:sp>
      <p:sp>
        <p:nvSpPr>
          <p:cNvPr id="59" name="Text 43"/>
          <p:cNvSpPr txBox="1"/>
          <p:nvPr/>
        </p:nvSpPr>
        <p:spPr>
          <a:xfrm>
            <a:off x="571500" y="552298"/>
            <a:ext cx="73728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DD0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Quantifiable Financial &amp; Operational Impact</a:t>
            </a:r>
            <a:endParaRPr lang="en-US" sz="1300" dirty="0"/>
          </a:p>
        </p:txBody>
      </p:sp>
      <p:pic>
        <p:nvPicPr>
          <p:cNvPr id="60" name="Image 14" descr="preencoded.png"/>
          <p:cNvPicPr>
            <a:picLocks noChangeAspect="1"/>
          </p:cNvPicPr>
          <p:nvPr/>
        </p:nvPicPr>
        <p:blipFill>
          <a:blip r:embed="rId15">
            <a:alphaModFix amt="80000"/>
          </a:blip>
          <a:srcRect/>
          <a:stretch/>
        </p:blipFill>
        <p:spPr>
          <a:xfrm>
            <a:off x="9324137" y="261518"/>
            <a:ext cx="286207" cy="286207"/>
          </a:xfrm>
          <a:prstGeom prst="rect">
            <a:avLst/>
          </a:prstGeom>
        </p:spPr>
      </p:pic>
      <p:sp>
        <p:nvSpPr>
          <p:cNvPr id="61" name="Text 44"/>
          <p:cNvSpPr txBox="1"/>
          <p:nvPr/>
        </p:nvSpPr>
        <p:spPr>
          <a:xfrm>
            <a:off x="9686239" y="261518"/>
            <a:ext cx="211043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HEALTHANALYTICS</a:t>
            </a:r>
            <a:endParaRPr lang="en-US" sz="1500" dirty="0"/>
          </a:p>
        </p:txBody>
      </p:sp>
      <p:sp>
        <p:nvSpPr>
          <p:cNvPr id="62" name="Text 45"/>
          <p:cNvSpPr txBox="1"/>
          <p:nvPr/>
        </p:nvSpPr>
        <p:spPr>
          <a:xfrm>
            <a:off x="10490911" y="271577"/>
            <a:ext cx="12097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ANALYTICS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1695" y="1604772"/>
            <a:ext cx="5095951" cy="1076249"/>
          </a:xfrm>
          <a:prstGeom prst="roundRect">
            <a:avLst>
              <a:gd name="adj" fmla="val 902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1695" y="1604772"/>
            <a:ext cx="47549" cy="1076249"/>
          </a:xfrm>
          <a:prstGeom prst="roundRect">
            <a:avLst>
              <a:gd name="adj" fmla="val 204220"/>
            </a:avLst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37844" y="1914754"/>
            <a:ext cx="457200" cy="45720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1181405" y="2048256"/>
            <a:ext cx="171907" cy="19019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86154" y="1795882"/>
            <a:ext cx="40581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End-to-End Data Pipelines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686154" y="2090318"/>
            <a:ext cx="40197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robust ETL workflows utilizing Power Query to transform raw logs into analytical datasets with measurable ROI.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334049" y="1604772"/>
            <a:ext cx="5095951" cy="1076249"/>
          </a:xfrm>
          <a:prstGeom prst="roundRect">
            <a:avLst>
              <a:gd name="adj" fmla="val 902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34049" y="1604772"/>
            <a:ext cx="47549" cy="1076249"/>
          </a:xfrm>
          <a:prstGeom prst="roundRect">
            <a:avLst>
              <a:gd name="adj" fmla="val 204220"/>
            </a:avLst>
          </a:prstGeom>
          <a:solidFill>
            <a:srgbClr val="43A047"/>
          </a:solidFill>
          <a:ln w="12700">
            <a:solidFill>
              <a:srgbClr val="43A0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610198" y="1914754"/>
            <a:ext cx="457200" cy="4572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6752844" y="2048256"/>
            <a:ext cx="171907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258507" y="1795882"/>
            <a:ext cx="40581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$1.4M+ Financial Impact</a:t>
            </a:r>
            <a:endParaRPr lang="en-US" sz="13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5363" y="1835201"/>
            <a:ext cx="866851" cy="1810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35363" y="1835201"/>
            <a:ext cx="866851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ROI DRIVER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7258507" y="2090318"/>
            <a:ext cx="40197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Directly translated data insights into $994K in new revenue and significant cost savings.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61695" y="2919679"/>
            <a:ext cx="5095951" cy="1076249"/>
          </a:xfrm>
          <a:prstGeom prst="roundRect">
            <a:avLst>
              <a:gd name="adj" fmla="val 902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61695" y="2919679"/>
            <a:ext cx="47549" cy="1076249"/>
          </a:xfrm>
          <a:prstGeom prst="roundRect">
            <a:avLst>
              <a:gd name="adj" fmla="val 204220"/>
            </a:avLst>
          </a:prstGeom>
          <a:solidFill>
            <a:srgbClr val="00897B"/>
          </a:solidFill>
          <a:ln w="12700">
            <a:solidFill>
              <a:srgbClr val="00897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1037844" y="3228746"/>
            <a:ext cx="457200" cy="457200"/>
          </a:xfrm>
          <a:prstGeom prst="ellipse">
            <a:avLst/>
          </a:prstGeom>
          <a:solidFill>
            <a:srgbClr val="E0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1181405" y="3362249"/>
            <a:ext cx="171907" cy="19019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86154" y="3109874"/>
            <a:ext cx="40581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Analytical Optimization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1686154" y="3405226"/>
            <a:ext cx="40197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Reduced operational costs by $412K annually through data-driven staffing and resource allocation.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334049" y="2919679"/>
            <a:ext cx="5095951" cy="1076249"/>
          </a:xfrm>
          <a:prstGeom prst="roundRect">
            <a:avLst>
              <a:gd name="adj" fmla="val 902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6334049" y="2919679"/>
            <a:ext cx="47549" cy="1076249"/>
          </a:xfrm>
          <a:prstGeom prst="roundRect">
            <a:avLst>
              <a:gd name="adj" fmla="val 204220"/>
            </a:avLst>
          </a:prstGeom>
          <a:solidFill>
            <a:srgbClr val="8E24AA"/>
          </a:solidFill>
          <a:ln w="12700">
            <a:solidFill>
              <a:srgbClr val="8E24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6610198" y="3228746"/>
            <a:ext cx="457200" cy="457200"/>
          </a:xfrm>
          <a:prstGeom prst="ellipse">
            <a:avLst/>
          </a:prstGeom>
          <a:solidFill>
            <a:srgbClr val="F3E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6752844" y="3362249"/>
            <a:ext cx="171907" cy="19019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258507" y="3109874"/>
            <a:ext cx="40581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Executive-Ready Dashboards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7258507" y="3405226"/>
            <a:ext cx="40197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 interactive, intuitive visualizations that serve as the single source of truth for leadership.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761695" y="4233672"/>
            <a:ext cx="5095951" cy="1076249"/>
          </a:xfrm>
          <a:prstGeom prst="roundRect">
            <a:avLst>
              <a:gd name="adj" fmla="val 902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761695" y="4233672"/>
            <a:ext cx="47549" cy="1076249"/>
          </a:xfrm>
          <a:prstGeom prst="roundRect">
            <a:avLst>
              <a:gd name="adj" fmla="val 204220"/>
            </a:avLst>
          </a:prstGeom>
          <a:solidFill>
            <a:srgbClr val="FB8C00"/>
          </a:solidFill>
          <a:ln w="12700">
            <a:solidFill>
              <a:srgbClr val="FB8C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1037844" y="4543654"/>
            <a:ext cx="457200" cy="457200"/>
          </a:xfrm>
          <a:prstGeom prst="ellipse">
            <a:avLst/>
          </a:prstGeom>
          <a:solidFill>
            <a:srgbClr val="FFF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1181405" y="4677156"/>
            <a:ext cx="171907" cy="190195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686154" y="4424782"/>
            <a:ext cx="40581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Operational Strategy</a:t>
            </a:r>
            <a:endParaRPr lang="en-US" sz="1300" dirty="0"/>
          </a:p>
        </p:txBody>
      </p:sp>
      <p:sp>
        <p:nvSpPr>
          <p:cNvPr id="36" name="Text 28"/>
          <p:cNvSpPr txBox="1"/>
          <p:nvPr/>
        </p:nvSpPr>
        <p:spPr>
          <a:xfrm>
            <a:off x="1686154" y="4719218"/>
            <a:ext cx="40197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Drove evidence-based decision making across revenue generation, patient experience, and capacity planning.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6334049" y="4233672"/>
            <a:ext cx="5095951" cy="1076249"/>
          </a:xfrm>
          <a:prstGeom prst="roundRect">
            <a:avLst>
              <a:gd name="adj" fmla="val 902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0"/>
          <p:cNvSpPr/>
          <p:nvPr/>
        </p:nvSpPr>
        <p:spPr>
          <a:xfrm>
            <a:off x="6334049" y="4233672"/>
            <a:ext cx="47549" cy="1076249"/>
          </a:xfrm>
          <a:prstGeom prst="roundRect">
            <a:avLst>
              <a:gd name="adj" fmla="val 204220"/>
            </a:avLst>
          </a:prstGeom>
          <a:solidFill>
            <a:srgbClr val="546E7A"/>
          </a:solidFill>
          <a:ln w="12700">
            <a:solidFill>
              <a:srgbClr val="546E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1"/>
          <p:cNvSpPr/>
          <p:nvPr/>
        </p:nvSpPr>
        <p:spPr>
          <a:xfrm>
            <a:off x="6610198" y="4543654"/>
            <a:ext cx="457200" cy="457200"/>
          </a:xfrm>
          <a:prstGeom prst="ellipse">
            <a:avLst/>
          </a:prstGeom>
          <a:solidFill>
            <a:srgbClr val="ECEF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rcRect l="-1648" r="-1648"/>
          <a:stretch/>
        </p:blipFill>
        <p:spPr>
          <a:xfrm>
            <a:off x="6752844" y="4677156"/>
            <a:ext cx="171907" cy="19019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7258507" y="4424782"/>
            <a:ext cx="40581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Stakeholder Communication</a:t>
            </a:r>
            <a:endParaRPr lang="en-US" sz="1300" dirty="0"/>
          </a:p>
        </p:txBody>
      </p:sp>
      <p:sp>
        <p:nvSpPr>
          <p:cNvPr id="42" name="Text 33"/>
          <p:cNvSpPr txBox="1"/>
          <p:nvPr/>
        </p:nvSpPr>
        <p:spPr>
          <a:xfrm>
            <a:off x="7258507" y="4719218"/>
            <a:ext cx="40197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Expertise in translating complex technical findings into clear, actionable business narratives for non-technical stakeholders.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761695" y="5691226"/>
            <a:ext cx="10668305" cy="514807"/>
          </a:xfrm>
          <a:prstGeom prst="roundRect">
            <a:avLst>
              <a:gd name="adj" fmla="val 26314"/>
            </a:avLst>
          </a:prstGeom>
          <a:solidFill>
            <a:srgbClr val="00ACC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0"/>
          <a:srcRect l="-33" r="-33"/>
          <a:stretch/>
        </p:blipFill>
        <p:spPr>
          <a:xfrm>
            <a:off x="3428086" y="5872277"/>
            <a:ext cx="171907" cy="152705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3713378" y="5691226"/>
            <a:ext cx="484906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TO DELIVER IMMEDIATE VALUE TO YOUR BI TEAM</a:t>
            </a:r>
            <a:endParaRPr lang="en-US" sz="1200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0"/>
          <a:srcRect l="-33" r="-33"/>
          <a:stretch/>
        </p:blipFill>
        <p:spPr>
          <a:xfrm>
            <a:off x="8592617" y="5872277"/>
            <a:ext cx="171907" cy="152705"/>
          </a:xfrm>
          <a:prstGeom prst="rect">
            <a:avLst/>
          </a:prstGeom>
        </p:spPr>
      </p:pic>
      <p:sp>
        <p:nvSpPr>
          <p:cNvPr id="47" name="Shape 36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37"/>
          <p:cNvSpPr txBox="1"/>
          <p:nvPr/>
        </p:nvSpPr>
        <p:spPr>
          <a:xfrm>
            <a:off x="571500" y="71323"/>
            <a:ext cx="539130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 for BI Role</a:t>
            </a:r>
            <a:endParaRPr lang="en-US" sz="2700" dirty="0"/>
          </a:p>
        </p:txBody>
      </p:sp>
      <p:sp>
        <p:nvSpPr>
          <p:cNvPr id="49" name="Text 38"/>
          <p:cNvSpPr txBox="1"/>
          <p:nvPr/>
        </p:nvSpPr>
        <p:spPr>
          <a:xfrm>
            <a:off x="571500" y="623621"/>
            <a:ext cx="4686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DD0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Proven Impact &amp; Technical Proficiency</a:t>
            </a:r>
            <a:endParaRPr lang="en-US" sz="1300" dirty="0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1">
            <a:alphaModFix amt="80000"/>
          </a:blip>
          <a:srcRect l="-607" r="-607"/>
          <a:stretch/>
        </p:blipFill>
        <p:spPr>
          <a:xfrm>
            <a:off x="9247327" y="333756"/>
            <a:ext cx="362102" cy="286207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9686239" y="333756"/>
            <a:ext cx="211043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HEALTHANALYTICS</a:t>
            </a:r>
            <a:endParaRPr lang="en-US" sz="1500" dirty="0"/>
          </a:p>
        </p:txBody>
      </p:sp>
      <p:sp>
        <p:nvSpPr>
          <p:cNvPr id="52" name="Text 40"/>
          <p:cNvSpPr txBox="1"/>
          <p:nvPr/>
        </p:nvSpPr>
        <p:spPr>
          <a:xfrm>
            <a:off x="10490911" y="342900"/>
            <a:ext cx="12097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ANALYTICS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29500" y="-952805"/>
            <a:ext cx="5715000" cy="5715000"/>
          </a:xfrm>
          <a:prstGeom prst="ellipse">
            <a:avLst/>
          </a:prstGeom>
          <a:solidFill>
            <a:srgbClr val="1565C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-476402" y="3524098"/>
            <a:ext cx="3810305" cy="3810305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5619902" y="801014"/>
            <a:ext cx="952805" cy="384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955341" y="1124712"/>
            <a:ext cx="6286500" cy="1762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Ready to Drive 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4DD0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Data-Driven Growth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for Your Organization </a:t>
            </a:r>
            <a:endParaRPr lang="en-US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1542593" y="3113532"/>
            <a:ext cx="91156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1F5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Transforming Healthcare Data into Revenue, Efficiency, and Patient Satisfaction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2122322" y="4218127"/>
            <a:ext cx="3886200" cy="875995"/>
          </a:xfrm>
          <a:prstGeom prst="roundRect">
            <a:avLst>
              <a:gd name="adj" fmla="val 1361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2512771" y="4418381"/>
            <a:ext cx="476402" cy="47640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637130" y="4542739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180283" y="4422953"/>
            <a:ext cx="253654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3E5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 Me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3180283" y="4633265"/>
            <a:ext cx="264901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nithinthota999@gmail.com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380683" y="4218127"/>
            <a:ext cx="3696005" cy="875995"/>
          </a:xfrm>
          <a:prstGeom prst="roundRect">
            <a:avLst>
              <a:gd name="adj" fmla="val 1361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6771132" y="4418381"/>
            <a:ext cx="476402" cy="47640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t="-456" b="-456"/>
          <a:stretch/>
        </p:blipFill>
        <p:spPr>
          <a:xfrm>
            <a:off x="6899148" y="4542739"/>
            <a:ext cx="219456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37730" y="4422953"/>
            <a:ext cx="233812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3E5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Portfolio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7437730" y="4633265"/>
            <a:ext cx="25356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github.com/NithinThota9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2874874" y="5918911"/>
            <a:ext cx="75895" cy="75895"/>
          </a:xfrm>
          <a:prstGeom prst="ellipse">
            <a:avLst/>
          </a:prstGeom>
          <a:solidFill>
            <a:srgbClr val="4DD0E1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 txBox="1"/>
          <p:nvPr/>
        </p:nvSpPr>
        <p:spPr>
          <a:xfrm>
            <a:off x="2937967" y="5856732"/>
            <a:ext cx="199796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Intelligence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202936" y="5918911"/>
            <a:ext cx="75895" cy="75895"/>
          </a:xfrm>
          <a:prstGeom prst="ellipse">
            <a:avLst/>
          </a:prstGeom>
          <a:solidFill>
            <a:srgbClr val="4DD0E1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 txBox="1"/>
          <p:nvPr/>
        </p:nvSpPr>
        <p:spPr>
          <a:xfrm>
            <a:off x="5336438" y="5856732"/>
            <a:ext cx="171632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Analytics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386523" y="5918911"/>
            <a:ext cx="75895" cy="75895"/>
          </a:xfrm>
          <a:prstGeom prst="ellipse">
            <a:avLst/>
          </a:prstGeom>
          <a:solidFill>
            <a:srgbClr val="4DD0E1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7486193" y="5856732"/>
            <a:ext cx="1905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5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Optimization</a:t>
            </a:r>
            <a:endParaRPr lang="en-US" sz="10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 l="-50" r="-50"/>
          <a:stretch/>
        </p:blipFill>
        <p:spPr>
          <a:xfrm>
            <a:off x="571500" y="400507"/>
            <a:ext cx="342900" cy="30449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57046" y="381305"/>
            <a:ext cx="253654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HEALTHANALYTICS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2074774" y="409651"/>
            <a:ext cx="15051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2085</Words>
  <Application>Microsoft Office PowerPoint</Application>
  <PresentationFormat>Widescreen</PresentationFormat>
  <Paragraphs>441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Montserrat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Nithin Thota</cp:lastModifiedBy>
  <cp:revision>2</cp:revision>
  <dcterms:created xsi:type="dcterms:W3CDTF">2026-02-16T15:44:21Z</dcterms:created>
  <dcterms:modified xsi:type="dcterms:W3CDTF">2026-02-16T15:55:53Z</dcterms:modified>
</cp:coreProperties>
</file>